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ShopFlow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E0E7FF"/>
                </a:solidFill>
                <a:latin typeface="Calibri"/>
              </a:rPr>
              <a:t>Plateforme e-commerce multi-vendeurs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Backend Spring Boot 3 · Frontend Next.js · JWT · JPA · MapStruct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2926080" cy="502920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Mini-projet · 3 semaines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03520"/>
            <a:ext cx="3200400" cy="274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Réalisé par : Mohamed Yassine MAALOUL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Encadrante : Dr. Ing. Ghada Feki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Année universitaire 2025 /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28016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12801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5623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562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Objectifs pédagogiques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9514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9514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Cahier des charges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3405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3405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Architecture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7296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7296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Stack technologique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118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Modèle de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5079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507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API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970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8970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Sécurité &amp; JWT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2861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2861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Écrans d'authentification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4173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417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Fonctionnalités —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85623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85623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Fonctionnalités — vendeur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29514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29514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Fonctionnalités — administrateur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3405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73405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Workflow d'une commande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17296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1729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Dashboards analytiques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118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6118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Avis &amp; modération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05079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0507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Frontend Next.js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8970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48970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Persistance &amp; données de démo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2861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2861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Construire une marketplace B2C moderne et réaliste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Pourquoi ShopFlow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334155"/>
                </a:solidFill>
                <a:latin typeface="Calibri"/>
              </a:rPr>
              <a:t>•  Le e-commerce pèse &gt; 1000 Md$ /an — besoin d'architectures scalables et sécurisées.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334155"/>
                </a:solidFill>
                <a:latin typeface="Calibri"/>
              </a:rPr>
              <a:t>•  Une marketplace met en relation trois acteurs : clients, vendeurs, administrateurs.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334155"/>
                </a:solidFill>
                <a:latin typeface="Calibri"/>
              </a:rPr>
              <a:t>•  La plateforme doit gérer : catalogue, panier, commandes, stock, paiement simulé et avis.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334155"/>
                </a:solidFill>
                <a:latin typeface="Calibri"/>
              </a:rPr>
              <a:t>•  Enjeu pédagogique : couvrir toute la chaîne Spring Boot ↔ API REST ↔ Next.js.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38404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83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338CA"/>
                </a:solidFill>
                <a:latin typeface="Calibri"/>
              </a:rPr>
              <a:t>3 profils utilisateurs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331720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2860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060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Navigue, achète, note.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429000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383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03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Publie, gère stock et commandes.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526280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4805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8006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Modère, supervise, analyse.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Ce que le projet cherche à prouver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554480"/>
            <a:ext cx="228600" cy="224028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737360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API REST complète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31720"/>
            <a:ext cx="32918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Spring Boot 3 + Jakarta EE + MVC stateless.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39" y="155448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39" y="1554480"/>
            <a:ext cx="228600" cy="224028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19" y="1737360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Relations JPA complexes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2331720"/>
            <a:ext cx="32918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ManyToMany, auto-référence, cascade, lazy loading.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58" y="155448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58" y="1554480"/>
            <a:ext cx="228600" cy="224028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8" y="1737360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Règles métier réelles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8" y="2331720"/>
            <a:ext cx="32918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Stock, statut de commande, coupons, soft delete.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069080"/>
            <a:ext cx="228600" cy="224028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251960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Authentification robuste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46320"/>
            <a:ext cx="32918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Spring Security 6 + JWT access + refresh tokens.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39" y="406908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63439" y="4069080"/>
            <a:ext cx="228600" cy="224028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19" y="4251960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Frontend dynamique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19" y="4846320"/>
            <a:ext cx="32918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Next.js 14 app router consommant l'API.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58" y="4069080"/>
            <a:ext cx="374903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58" y="4069080"/>
            <a:ext cx="228600" cy="224028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38" y="4251960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Documentation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38" y="4846320"/>
            <a:ext cx="32918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Swagger/OpenAPI 3 accessible sur /swagger-ui.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Synthèse des fonctionnalités demandées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Catalogue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Produits + images + catégories M-M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Recherche full-text + filtres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Tri / pagination / promotions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Utilisateurs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Register / Login JWT (access + refresh)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Activation/désactivation (ADMIN)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Reset de mot de passe par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Panier &amp; Commandes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Panier persistant + coupons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Statut PENDING → DELIVERED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N° commande ORD-2024-XXXXX · stock vérifié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88620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Avis &amp;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2628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Avis vérifié + modération ADMIN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Dashboards rôle : KPIs, top produits/vendeurs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Alertes de stock faible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3 tiers : client Next.js · API Spring Boot · base H2 fichier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Next.js 14 · App Router ·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Pages : catalogue, produit, panier, profil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Dashboards Admin / Vendeur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Zustand (auth) + Axios (HTTP)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Intercepteur Bearer + refresh auto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Backend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Spring Boot 3 · Jakarta 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Controllers → Services → Repos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MapStruct (DTO ↔ Entity)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Spring Security 6 + JWT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Validation Jakarta @Valid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Swagger UI sur /swagger-ui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82880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Base de données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60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H2 fichier · JPA/Hibernate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175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Entités JPA + relations M-M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Fichier ./data/shopflow.mv.db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Migrations seed + idempotentes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Prête pour PostgreSQL (prod)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77639" y="3200400"/>
            <a:ext cx="274321" cy="0"/>
          </a:xfrm>
          <a:prstGeom prst="line">
            <a:avLst/>
          </a:prstGeom>
          <a:ln w="285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3200400"/>
            <a:ext cx="274320" cy="0"/>
          </a:xfrm>
          <a:prstGeom prst="line">
            <a:avLst/>
          </a:prstGeom>
          <a:ln w="285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31920" y="28803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HTTP /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8803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JDBC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Architecture en couches respectée côté backend (Controller ▸ Service ▸ Repository ▸ Entity).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Choix dictés par le cahier des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57784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48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17 (LTS)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24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Spring Boot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2432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3.3.x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99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Jakarta 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Persistence 3, Validation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753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Spring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753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6 + jjwt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Lombok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0507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@Data, @Builder, @Slf4j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MapStruct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526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DTO ↔ 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017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Springdoc OpenAPI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00176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Swagger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772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47725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H2 fichier (prod-ready Postgres)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417320"/>
            <a:ext cx="557784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1417320"/>
            <a:ext cx="5577840" cy="5486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41732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Next.js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148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14.2 · App Router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24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62432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099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TypeScript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09981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5.x strict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57530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Tailwind CSS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5753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3.4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0507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Zustand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0507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5.x (auth store)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Axios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526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HTTP + interceptor JWT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0017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ESLint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00176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next/core-web-vitals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4772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47725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SVG natifs (zéro dépendance)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Modèle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Entités JPA principales et leurs relations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74520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email (UK)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motDePasse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role (enum)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actif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1417320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34056" y="1417320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34056" y="1417320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1874520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nom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prix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prixPromo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stock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images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Seller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↔ Category (M-M)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417320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02352" y="1417320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1417320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1874520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nom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description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parent (auto-réf)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0648" y="1417320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70648" y="1417320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1417320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1874520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customer (1-1)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lignes (1-M)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8944" y="1417320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38944" y="1417320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8944" y="1417320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CartItem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1874520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cart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product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quantite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904488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" y="3904488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90448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61688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numeroCommande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statut (enum)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sousTotal · totalTTC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customer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34056" y="3904488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34056" y="3904488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34056" y="390448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71216" y="4361688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order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product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quantite · prixUnitaire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02352" y="3904488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02352" y="3904488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2352" y="390448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2" y="4361688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customer · → product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note (1-5)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approuve (bool)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70648" y="3904488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70648" y="3904488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90448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Coupon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4361688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code (UK)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type (PCT/FIXE)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valeur · expire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38944" y="3904488"/>
            <a:ext cx="225856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38944" y="3904488"/>
            <a:ext cx="2258568" cy="384048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38944" y="390448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PasswordResetToken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76104" y="4361688"/>
            <a:ext cx="2029968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id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token (UUID×2)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→ user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alibri"/>
              </a:rPr>
              <a:t>·  expire (60 min)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Contraintes : email/coupon codes UK, cascade + orphanRemoval, FetchType LAZY par défaut.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09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40+ endpoints documentés via Swagger UI (/swagger-ui)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62356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338CA"/>
                </a:solidFill>
                <a:latin typeface="Consolas"/>
              </a:rPr>
              <a:t>/api/auth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24917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/register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/login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980" y="1920240"/>
            <a:ext cx="25374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/logout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/forgot-password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/reset-password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62356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2704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338CA"/>
                </a:solidFill>
                <a:latin typeface="Consolas"/>
              </a:rPr>
              <a:t>/api/products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4917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/?size&amp;page&amp;q&amp;promo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/{id}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· PUT ·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700" y="1920240"/>
            <a:ext cx="25374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/top-selling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/low-stock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36392"/>
            <a:ext cx="562356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4612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338CA"/>
                </a:solidFill>
                <a:latin typeface="Consolas"/>
              </a:rPr>
              <a:t>/api/cart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39312"/>
            <a:ext cx="24917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/items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PUT /items/{id}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8980" y="3639312"/>
            <a:ext cx="25374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DELETE /items/{id}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· DELETE /coupon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36392"/>
            <a:ext cx="562356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338CA"/>
                </a:solidFill>
                <a:latin typeface="Consolas"/>
              </a:rPr>
              <a:t>/api/orders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39312"/>
            <a:ext cx="24917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/{id}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3639312"/>
            <a:ext cx="25374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/sales (SELLER/ADMIN)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PUT /{id}/status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PUT /{id}/cancel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55464"/>
            <a:ext cx="562356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65192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338CA"/>
                </a:solidFill>
                <a:latin typeface="Consolas"/>
              </a:rPr>
              <a:t>/api/reviews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58384"/>
            <a:ext cx="24917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POST /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/product/{id}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PUT /{id}/approve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8980" y="5358384"/>
            <a:ext cx="25374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DELETE /{id}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GET /mine · GET /reviewable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855464"/>
            <a:ext cx="562356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65192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338CA"/>
                </a:solidFill>
                <a:latin typeface="Consolas"/>
              </a:rPr>
              <a:t>/api/dashboard · /api/users · /api/categories · /api/coupons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358384"/>
            <a:ext cx="24917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Dashboards admin / seller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Activation / désactivation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9700" y="5358384"/>
            <a:ext cx="25374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CRUD catégories (ADMIN)</a:t>
            </a:r>
          </a:p>
          <a:p>
            <a:pPr algn="l">
              <a:lnSpc>
                <a:spcPct val="120000"/>
              </a:lnSpc>
            </a:pPr>
            <a:r>
              <a:rPr sz="1000">
                <a:solidFill>
                  <a:srgbClr val="334155"/>
                </a:solidFill>
                <a:latin typeface="Consolas"/>
              </a:rPr>
              <a:t>·  CRUD + validate coupons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Sécurité &amp; 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Spring Security 6 + JWT (jjwt) — stateless, scalable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Flow d'authentification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POST /auth/login → access + refresh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access stocké dans localStorage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Axios interceptor ajoute Bearer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Si 401 → refresh auto + retry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@PreAuthorize filtre par rôle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Décisions clés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Access token 24h, refresh 7j (constantes ajustables).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Mots de passe : BCrypt 10 rounds.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BCrypt + JWT stateless ⇒ aucun stockage session serveur.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Compte désactivé : login bloqué avec message explicite.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Reset via token usage-unique 60 min + messages génériques (pas de fuite d'email).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CORS + CSRF : configurés pour JSON stateless.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Écrans d'authentification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Register · Login · Mot de passe oublié (reset 60 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pic>
        <p:nvPicPr>
          <p:cNvPr id="10" name="Picture 9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840480" cy="2400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Login (JWT)</a:t>
            </a:r>
          </a:p>
        </p:txBody>
      </p:sp>
      <p:pic>
        <p:nvPicPr>
          <p:cNvPr id="12" name="Picture 11" descr="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63040"/>
            <a:ext cx="3840480" cy="2400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Inscription</a:t>
            </a:r>
          </a:p>
        </p:txBody>
      </p:sp>
      <p:pic>
        <p:nvPicPr>
          <p:cNvPr id="14" name="Picture 13" descr="forgot_passw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463040"/>
            <a:ext cx="3840480" cy="2400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Mot de passe oublié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Flow reset de mot de passe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Saisie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493776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93776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49377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Token UUID×2 · TTL 60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493776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93776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9377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Lien /reset-password?token=…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93776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93776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49377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Nouveau mdp + redirection 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Sécurité : messages génériques (pas de fuite), token single-use, suppression après reset.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Fonctionnalités — rôle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Parcours d'achat complet, de la recherche à l'avis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6858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Catalogue : recherche, filtres catégorie · prix · promo, tri · pagination.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Fiche produit : images, prix barré, variantes, avis agrégés + notation.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Panier persistant (survit à la déconnexion) + application de coupons.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Tunnel de commande : adresses multiples, récap TTC, simulation paiement.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Suivi de commande : timeline Commandée › Payée › Préparation › Expédiée › Livrée.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Annulation possible tant que PENDING/PAID + remboursement + restock automatique.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Espace profil : historique commandes, avis à laisser, avis déjà postés.</a:t>
            </a:r>
          </a:p>
        </p:txBody>
      </p:sp>
      <p:pic>
        <p:nvPicPr>
          <p:cNvPr id="11" name="Picture 10" descr="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402336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0" y="4160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Page Catalogue · filtres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Fonctionnalités — rôle SELLER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Vendeur : catalogue, stock, commandes reçues,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7132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CRUD produits : nom, description, prix / promo, stock, images, catégories.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Soft delete via champ actif (le produit disparaît du catalogue sans perte d'historique).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Dashboard : CA total, CA 30 jours, en attente, note moyenne ★, variation %.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Graph ventes 30 jours (Sparkline SVG maison) · top 5 produits.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Alertes stock ≤ 5 : badges rupture / critique / faible + lien vers le produit.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Gestion des commandes reçues : filtres par statut, bouton "avancer le statut".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Seul le vendeur d'une ligne d'article peut la faire avancer (sécurité service).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463040"/>
            <a:ext cx="1920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2" y="16002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CA 30 JOURS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2" y="19202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338CA"/>
                </a:solidFill>
                <a:latin typeface="Calibri"/>
              </a:rPr>
              <a:t>1 249 €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463040"/>
            <a:ext cx="1920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0112" y="16002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COMMANDES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112" y="19202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651760"/>
            <a:ext cx="1920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2788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NOTE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3108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4.7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651760"/>
            <a:ext cx="1920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2" y="2788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STOCK ≤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3108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3F5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Fonctionnalités — rôle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Supervision globale, modération, comptes utilisateurs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Dashboard : revenus totaux, revenus 30j, variation %, panier moyen, nb users / clients / vendeurs.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Graph ventes 30 jours + CA par catégorie (mini bar chart) + Top 5 vendeurs.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Panneau "Alertes" : avis en attente, comptes désactivés, produits stock faible.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Dernières commandes cliquables avec badges de statut colorés.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Page Utilisateurs : activer/désactiver un compte — compte désactivé ne peut plus se connecter.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Page Modération des avis : approuver ou rejeter (suppression hard).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Page Stock faible avec seuil ajustable + badges rupture/critique/faible.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Workflow d'une commande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 l'ajout au panier jusqu'à la livraison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2103120" cy="8229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24028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2103120"/>
            <a:ext cx="2103120" cy="8229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21031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224028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4" y="2103120"/>
            <a:ext cx="2103120" cy="8229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1031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224028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77456" y="2103120"/>
            <a:ext cx="2103120" cy="822960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21031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24028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2103120"/>
            <a:ext cx="2103120" cy="82296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1031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Règles métier appliquées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11155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Numéro généré au format ORD-YYYY-XXXXX (année + séquence atomique).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Stock décrémenté à la création : si insuffisant → 409 Conflict + rollback.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CANCELLED autorisé tant que PENDING ou PAID — restock et remboursement simulé.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Statut avancé uniquement par le vendeur des articles (ou ADMIN).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Filet anti-régression : le statut ne peut qu'avancer (pas de retour en arrière).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Service transactionnel (@Transactional) pour garantir l'atomicité.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Dashboards analytiques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Charts SVG natifs — zéro dépendance externe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47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Agrégation côté service : revenus totaux, par catégorie, par jour sur 30j.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Série temporelle 30 jours générée en Java (portable H2 / PostgreSQL).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Sparkline SVG : courbe de ventes · MiniBarChart : répartition par catégorie.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Cartes KPI : variation 30j vs période précédente (Δ%), panier moyen.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Top 5 produits et Top 5 vendeurs triés par CA.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Requêtes JPQL optimisées : GROUP BY + tri + LIMIT, aucune N+1.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182880" cy="1005840"/>
          </a:xfrm>
          <a:prstGeom prst="roundRect">
            <a:avLst>
              <a:gd name="adj" fmla="val 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REVENUS TOTAUX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24 599 €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297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4297680"/>
            <a:ext cx="182880" cy="100584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434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CA 30 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754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8 120 €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97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4297680"/>
            <a:ext cx="182880" cy="10058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COMMANDES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54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297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0" y="4297680"/>
            <a:ext cx="182880" cy="100584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4434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PANIER MOYEN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754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192 €</a:t>
            </a:r>
          </a:p>
        </p:txBody>
      </p:sp>
      <p:sp>
        <p:nvSpPr>
          <p:cNvPr id="27" name="Oval 26"/>
          <p:cNvSpPr/>
          <p:nvPr/>
        </p:nvSpPr>
        <p:spPr>
          <a:xfrm>
            <a:off x="420624" y="5797295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5302" y="5724616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457200" y="5761192"/>
            <a:ext cx="384678" cy="7267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89981" y="5676617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841878" y="5713193"/>
            <a:ext cx="384679" cy="4799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574659" y="5645399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226557" y="5681975"/>
            <a:ext cx="384678" cy="31218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959338" y="5621538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611235" y="5658114"/>
            <a:ext cx="384679" cy="2386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344017" y="5602923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995914" y="5639499"/>
            <a:ext cx="384679" cy="1861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728695" y="5597862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380593" y="5634438"/>
            <a:ext cx="384678" cy="506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113374" y="5620371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765271" y="5634438"/>
            <a:ext cx="384679" cy="2250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498052" y="5680468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3149950" y="5656947"/>
            <a:ext cx="384678" cy="60097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882731" y="5775489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534628" y="5717044"/>
            <a:ext cx="384679" cy="9502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267410" y="5887985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919307" y="5812065"/>
            <a:ext cx="384679" cy="112496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652088" y="5991881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303986" y="5924561"/>
            <a:ext cx="384678" cy="103896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036767" y="6063653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88664" y="6028457"/>
            <a:ext cx="384679" cy="71772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421446" y="6092248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5073343" y="6100229"/>
            <a:ext cx="384679" cy="2859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806124" y="6082211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5458022" y="6118787"/>
            <a:ext cx="384678" cy="10037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190803" y="6048522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5842700" y="6085098"/>
            <a:ext cx="384679" cy="3368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575481" y="6006528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6227379" y="6043104"/>
            <a:ext cx="384678" cy="4199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960160" y="5963193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6612057" y="5999769"/>
            <a:ext cx="384679" cy="4333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344839" y="5914914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6996736" y="5951490"/>
            <a:ext cx="384679" cy="4827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7729517" y="5852995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7381415" y="5889571"/>
            <a:ext cx="384678" cy="6191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114196" y="5773104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7766093" y="5809680"/>
            <a:ext cx="384679" cy="7989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498875" y="5682512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8150772" y="5719088"/>
            <a:ext cx="384679" cy="90592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8883553" y="5600216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8535451" y="5636792"/>
            <a:ext cx="384678" cy="82296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268232" y="5549376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8920129" y="5585952"/>
            <a:ext cx="384679" cy="50840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9652910" y="5546211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9304808" y="5582787"/>
            <a:ext cx="384678" cy="316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037589" y="5591770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689486" y="5582787"/>
            <a:ext cx="384679" cy="4555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422268" y="5671391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074165" y="5628346"/>
            <a:ext cx="384679" cy="7962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06946" y="5762169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458844" y="5707967"/>
            <a:ext cx="384678" cy="90778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1191625" y="5844053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43522" y="5798745"/>
            <a:ext cx="384679" cy="8188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1576304" y="5908152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228201" y="5880629"/>
            <a:ext cx="384679" cy="64099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Ventes simulées sur 30 jours (Sparkline SVG)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Avis &amp; modération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Note + commentaire, achat vérifié, validation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Un client ne peut poster qu'une fois par produit acheté (contrainte service).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Liste "avis à laisser" sur /profile/reviews basée sur les commandes DELIVERED.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Note moyenne recalculée via JPQL AVG — exposée dans la fiche produit.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Nouveaux avis créés avec approuve=false → en attente de modération.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Page /dashboard/admin/reviews : approuver (visible public) ou rejeter (DELETE).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Badges "En attente" dans le panneau Alertes du dashboard admin.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34155"/>
                </a:solidFill>
                <a:latin typeface="Calibri"/>
              </a:rPr>
              <a:t>•  Possibilité de supprimer son propre avis côté client.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Frontend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Design responsive · Tailwind · App Router · Zustand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840480" cy="2400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Page d'accueil</a:t>
            </a:r>
          </a:p>
        </p:txBody>
      </p:sp>
      <p:pic>
        <p:nvPicPr>
          <p:cNvPr id="12" name="Picture 11" descr="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63040"/>
            <a:ext cx="3840480" cy="2400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Catalogue + filtres</a:t>
            </a:r>
          </a:p>
        </p:txBody>
      </p:sp>
      <p:pic>
        <p:nvPicPr>
          <p:cNvPr id="14" name="Picture 13" descr="product_ps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463040"/>
            <a:ext cx="3840480" cy="2400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Fiche produit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Qualités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Skeleton / loaders sur chaque fetch, ErrorBox sur erreur, empty states explicites.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Intercepteur Axios qui rafraîchit automatiquement le JWT expiré (sans interrompre l'utilisateur).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Composants réutilisables : KpiCard, Sparkline, MiniBarChart, OrderStatusBadge, RatingStars.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334155"/>
                </a:solidFill>
                <a:latin typeface="Calibri"/>
              </a:rPr>
              <a:t>•  Routes protégées par un DashboardLayout (redirection /login?redirect=… si non connecté).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Persistance &amp; données de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E0E7FF"/>
                </a:solidFill>
                <a:latin typeface="Calibri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H2 fichier prêt à l'emploi + seed exécutable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ShopFlow — Mini-Projet E-commerce ·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Choix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Base stockée en fichier : ./data/shopflow.mv.db.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Propriétés Spring : DB_CLOSE_DELAY=-1 ; DB_CLOSE_ON_EXIT=FALSE.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Les données survivent aux redémarrages du backend.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Migration idempotente au boot : corrige des URLs d'images cassées.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Swap Postgres en prod : changer application.properties, aucune modif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Comptes &amp; données seedés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3 comptes de démo (mot de passe : password123) :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admin@shopflow.com — ADMIN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seller@techstore.com — SELLER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jean.dupont@shopflow.com — CUSTOMER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334155"/>
                </a:solidFill>
                <a:latin typeface="Calibri"/>
              </a:rPr>
              <a:t>•  8 produits seedés + 4 catégories + 2 coupons + 2 avis en attente.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Calibri"/>
              </a:rPr>
              <a:t>Ce qui a été livré et ce qu'on pourrait améliorer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✔ Livré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Backend Spring Boot 3 complet (40+ endpoints)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Sécurité JWT + refresh + reset de mot de passe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Modèle JPA complet, soft delete, transactions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Frontend Next.js 14 responsive avec dashboards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Charts SVG natifs, aucune dépendance lourde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Base H2 fichier persistante + données seed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Swagger UI + documentation README complète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E7FF"/>
                </a:solidFill>
                <a:latin typeface="Calibri"/>
              </a:rPr>
              <a:t>→ 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Envoi d'e-mails réels (JavaMail) pour le reset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Paiement Stripe / PayPal en sandbox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Tests JUnit/Mockito sur la couche Service (+2 bonus)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Mode sombre + PWA offline (bonus)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Upload d'images en S3 (au lieu d'URLs distantes)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Variants de produit (taille/couleur) côté UI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F1F5F9"/>
                </a:solidFill>
                <a:latin typeface="Calibri"/>
              </a:rPr>
              <a:t>•  Migration vers PostgreSQL en 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669280"/>
            <a:ext cx="5760720" cy="731520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66928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Merci de votre attention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