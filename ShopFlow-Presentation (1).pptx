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41148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F46E5"/>
                </a:solidFill>
                <a:latin typeface="Calibri"/>
              </a:rPr>
              <a:t>MINI-PROJET  ·  E-COMMERCE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0" b="1" i="0">
                <a:solidFill>
                  <a:srgbClr val="0B1021"/>
                </a:solidFill>
                <a:latin typeface="Calibri"/>
              </a:rPr>
              <a:t>ShopFlow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F2937"/>
                </a:solidFill>
                <a:latin typeface="Calibri"/>
              </a:rPr>
              <a:t>Une plateforme e-commerce multi-vendeurs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Spring Boot 3  ·  Next.js 14  ·  JWT  ·  JPA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120640"/>
            <a:ext cx="41148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3035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280"/>
                </a:solidFill>
                <a:latin typeface="Calibri"/>
              </a:rPr>
              <a:t>Réalisé par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7784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021"/>
                </a:solidFill>
                <a:latin typeface="Calibri"/>
              </a:rPr>
              <a:t>Mohamed Yassine MAALOUL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53035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280"/>
                </a:solidFill>
                <a:latin typeface="Calibri"/>
              </a:rPr>
              <a:t>Encadré par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557784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021"/>
                </a:solidFill>
                <a:latin typeface="Calibri"/>
              </a:rPr>
              <a:t>Dr. Ing. Ghada Feki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5303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280"/>
                </a:solidFill>
                <a:latin typeface="Calibri"/>
              </a:rPr>
              <a:t>Année universitaire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557784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021"/>
                </a:solidFill>
                <a:latin typeface="Calibri"/>
              </a:rPr>
              <a:t>2025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114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02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B1021"/>
                </a:solidFill>
                <a:latin typeface="Calibri"/>
              </a:rPr>
              <a:t>Sommaire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411480" cy="25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Plan de la présentation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92240"/>
            <a:ext cx="1088136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ShopFlow  ·  Mini-projet e-commerce  · 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58368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Mohamed Yassine MAALOUL  ·  Dr. Ing. Ghada Feki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F46E5"/>
                </a:solidFill>
                <a:latin typeface="Calibri"/>
              </a:rPr>
              <a:t>PARTIE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48839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1021"/>
                </a:solidFill>
                <a:latin typeface="Calibri"/>
              </a:rPr>
              <a:t>Contexte &amp; problématique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43199"/>
            <a:ext cx="274320" cy="63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2607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2607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Contexte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27831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27831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Problématique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9583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529583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Objectifs &amp; méthodologie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87451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F46E5"/>
                </a:solidFill>
                <a:latin typeface="Calibri"/>
              </a:rPr>
              <a:t>PARTIE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148839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1021"/>
                </a:solidFill>
                <a:latin typeface="Calibri"/>
              </a:rPr>
              <a:t>Analyse &amp; conception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2743199"/>
            <a:ext cx="274320" cy="63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292607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40" y="292607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Cahier des charges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3227831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40" y="3227831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Architecture en couches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529583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40" y="3529583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Stack technique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3831335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40" y="3831335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Diagramme de classes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4133087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77640" y="4133087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Modèle relationnel (ERD)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187451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F46E5"/>
                </a:solidFill>
                <a:latin typeface="Calibri"/>
              </a:rPr>
              <a:t>PARTIE 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148839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1021"/>
                </a:solidFill>
                <a:latin typeface="Calibri"/>
              </a:rPr>
              <a:t>Réalisation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2743199"/>
            <a:ext cx="274320" cy="63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292607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292607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API REST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227831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3227831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JWT (diagr. séquence)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529583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3529583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Sécurité &amp; rôles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831335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3831335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Cycle d'une commande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133087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4133087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Extrait de code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43483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443483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Frontend Next.js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736591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4736591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Analytics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5038343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5038343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Aperçu visuel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81160" y="187451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F46E5"/>
                </a:solidFill>
                <a:latin typeface="Calibri"/>
              </a:rPr>
              <a:t>PARTIE 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60" y="2148839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1021"/>
                </a:solidFill>
                <a:latin typeface="Calibri"/>
              </a:rPr>
              <a:t>Évaluation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81160" y="2743199"/>
            <a:ext cx="274320" cy="63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81160" y="292607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38360" y="292607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Résultats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81160" y="3227831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38360" y="3227831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Conclusion &amp;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114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03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B1021"/>
                </a:solidFill>
                <a:latin typeface="Calibri"/>
              </a:rPr>
              <a:t>Contexte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411480" cy="25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Le e-commerce : un écosystème à multiples acteurs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92240"/>
            <a:ext cx="1088136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ShopFlow  ·  Mini-projet e-commerce  · 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58368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Mohamed Yassine MAALOUL  ·  Dr. Ing. Ghada Feki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6217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1">
                <a:solidFill>
                  <a:srgbClr val="4F46E5"/>
                </a:solidFill>
                <a:latin typeface="Calibri"/>
              </a:rPr>
              <a:t>—  </a:t>
            </a:r>
            <a:r>
              <a:rPr sz="1500">
                <a:solidFill>
                  <a:srgbClr val="1F2937"/>
                </a:solidFill>
                <a:latin typeface="Calibri"/>
              </a:rPr>
              <a:t>Le commerce en ligne pèse plus de 1 000 milliards de dollars par an.</a:t>
            </a:r>
          </a:p>
          <a:p>
            <a:pPr algn="l">
              <a:lnSpc>
                <a:spcPct val="160000"/>
              </a:lnSpc>
            </a:pPr>
            <a:r>
              <a:rPr sz="1500" b="1">
                <a:solidFill>
                  <a:srgbClr val="4F46E5"/>
                </a:solidFill>
                <a:latin typeface="Calibri"/>
              </a:rPr>
              <a:t>—  </a:t>
            </a:r>
            <a:r>
              <a:rPr sz="1500">
                <a:solidFill>
                  <a:srgbClr val="1F2937"/>
                </a:solidFill>
                <a:latin typeface="Calibri"/>
              </a:rPr>
              <a:t>Les places de marché (Amazon, eBay, CDiscount) dominent grâce à un modèle multi-vendeurs.</a:t>
            </a:r>
          </a:p>
          <a:p>
            <a:pPr algn="l">
              <a:lnSpc>
                <a:spcPct val="160000"/>
              </a:lnSpc>
            </a:pPr>
            <a:r>
              <a:rPr sz="1500" b="1">
                <a:solidFill>
                  <a:srgbClr val="4F46E5"/>
                </a:solidFill>
                <a:latin typeface="Calibri"/>
              </a:rPr>
              <a:t>—  </a:t>
            </a:r>
            <a:r>
              <a:rPr sz="1500">
                <a:solidFill>
                  <a:srgbClr val="1F2937"/>
                </a:solidFill>
                <a:latin typeface="Calibri"/>
              </a:rPr>
              <a:t>Ce modèle suppose la coexistence de trois acteurs aux besoins distincts.</a:t>
            </a:r>
          </a:p>
          <a:p>
            <a:pPr algn="l">
              <a:lnSpc>
                <a:spcPct val="160000"/>
              </a:lnSpc>
            </a:pPr>
            <a:r>
              <a:rPr sz="1500" b="1">
                <a:solidFill>
                  <a:srgbClr val="4F46E5"/>
                </a:solidFill>
                <a:latin typeface="Calibri"/>
              </a:rPr>
              <a:t>—  </a:t>
            </a:r>
            <a:r>
              <a:rPr sz="1500">
                <a:solidFill>
                  <a:srgbClr val="1F2937"/>
                </a:solidFill>
                <a:latin typeface="Calibri"/>
              </a:rPr>
              <a:t>Il impose des exigences fortes : sécurité, performance, modularité.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920240"/>
            <a:ext cx="4297680" cy="123444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1920240"/>
            <a:ext cx="25400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210312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F46E5"/>
                </a:solidFill>
                <a:latin typeface="Calibri"/>
              </a:rPr>
              <a:t>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423160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F2937"/>
                </a:solidFill>
                <a:latin typeface="Calibri"/>
              </a:rPr>
              <a:t>Recherche, compare, achète, note les produits.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291840"/>
            <a:ext cx="4297680" cy="123444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3291840"/>
            <a:ext cx="25400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347472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F46E5"/>
                </a:solidFill>
                <a:latin typeface="Calibri"/>
              </a:rPr>
              <a:t>VENDEUR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794760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F2937"/>
                </a:solidFill>
                <a:latin typeface="Calibri"/>
              </a:rPr>
              <a:t>Publie ses produits, suit ses stocks et commandes.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4663440"/>
            <a:ext cx="4297680" cy="123444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4663440"/>
            <a:ext cx="25400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484632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F46E5"/>
                </a:solidFill>
                <a:latin typeface="Calibri"/>
              </a:rPr>
              <a:t>ADMINISTRATEUR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5166360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F2937"/>
                </a:solidFill>
                <a:latin typeface="Calibri"/>
              </a:rPr>
              <a:t>Supervise la plateforme et modère le contenu.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114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04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B1021"/>
                </a:solidFill>
                <a:latin typeface="Calibri"/>
              </a:rPr>
              <a:t>Problématique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411480" cy="25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Concevoir une plateforme complète, sécurisée et maintenable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92240"/>
            <a:ext cx="1088136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ShopFlow  ·  Mini-projet e-commerce  · 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58368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Mohamed Yassine MAALOUL  ·  Dr. Ing. Ghada Feki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1874519"/>
            <a:ext cx="9418320" cy="10972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19"/>
            <a:ext cx="94183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 i="1">
                <a:solidFill>
                  <a:srgbClr val="0B1021"/>
                </a:solidFill>
                <a:latin typeface="Calibri"/>
              </a:rPr>
              <a:t>« Comment concevoir et développer une marketplace B2C intégrant trois profils</a:t>
            </a:r>
          </a:p>
          <a:p>
            <a:pPr algn="ctr">
              <a:lnSpc>
                <a:spcPct val="140000"/>
              </a:lnSpc>
            </a:pPr>
            <a:r>
              <a:rPr sz="1500" b="0" i="1">
                <a:solidFill>
                  <a:srgbClr val="0B1021"/>
                </a:solidFill>
                <a:latin typeface="Calibri"/>
              </a:rPr>
              <a:t>utilisateurs, des règles métier réalistes et une architecture prête à monter en charge ?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F46E5"/>
                </a:solidFill>
                <a:latin typeface="Calibri"/>
              </a:rPr>
              <a:t>→ Fonctionnel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374903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F2937"/>
                </a:solidFill>
                <a:latin typeface="Calibri"/>
              </a:rPr>
              <a:t>Couvrir tout le parcours d'achat : catalogue, panier, commandes, avis, remboursements.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38328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F46E5"/>
                </a:solidFill>
                <a:latin typeface="Calibri"/>
              </a:rPr>
              <a:t>→ Technique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3794760"/>
            <a:ext cx="374903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F2937"/>
                </a:solidFill>
                <a:latin typeface="Calibri"/>
              </a:rPr>
              <a:t>Relier Spring Boot et Next.js via une API REST sécurisée et documentée.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8" y="338328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F46E5"/>
                </a:solidFill>
                <a:latin typeface="Calibri"/>
              </a:rPr>
              <a:t>→ Qualité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8" y="3794760"/>
            <a:ext cx="374903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F2937"/>
                </a:solidFill>
                <a:latin typeface="Calibri"/>
              </a:rPr>
              <a:t>Assurer sécurité JWT, validations, transactions, et une UI responsive et accessible.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114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05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B1021"/>
                </a:solidFill>
                <a:latin typeface="Calibri"/>
              </a:rPr>
              <a:t>Objectifs &amp; méthodologie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411480" cy="25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Approche itérative, pragmatique, test-first sur la partie critique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92240"/>
            <a:ext cx="1088136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ShopFlow  ·  Mini-projet e-commerce  · 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58368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Mohamed Yassine MAALOUL  ·  Dr. Ing. Ghada Feki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021"/>
                </a:solidFill>
                <a:latin typeface="Calibri"/>
              </a:rPr>
              <a:t>Objectifs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48840"/>
            <a:ext cx="274320" cy="63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1">
                <a:solidFill>
                  <a:srgbClr val="4F46E5"/>
                </a:solidFill>
                <a:latin typeface="Calibri"/>
              </a:rPr>
              <a:t>—  </a:t>
            </a:r>
            <a:r>
              <a:rPr sz="1300">
                <a:solidFill>
                  <a:srgbClr val="1F2937"/>
                </a:solidFill>
                <a:latin typeface="Calibri"/>
              </a:rPr>
              <a:t>Fournir une API REST documentée (OpenAPI / Swagger UI).</a:t>
            </a:r>
          </a:p>
          <a:p>
            <a:pPr algn="l">
              <a:lnSpc>
                <a:spcPct val="160000"/>
              </a:lnSpc>
            </a:pPr>
            <a:r>
              <a:rPr sz="1300" b="1">
                <a:solidFill>
                  <a:srgbClr val="4F46E5"/>
                </a:solidFill>
                <a:latin typeface="Calibri"/>
              </a:rPr>
              <a:t>—  </a:t>
            </a:r>
            <a:r>
              <a:rPr sz="1300">
                <a:solidFill>
                  <a:srgbClr val="1F2937"/>
                </a:solidFill>
                <a:latin typeface="Calibri"/>
              </a:rPr>
              <a:t>Mettre en place une authentification stateless (JWT access + refresh).</a:t>
            </a:r>
          </a:p>
          <a:p>
            <a:pPr algn="l">
              <a:lnSpc>
                <a:spcPct val="160000"/>
              </a:lnSpc>
            </a:pPr>
            <a:r>
              <a:rPr sz="1300" b="1">
                <a:solidFill>
                  <a:srgbClr val="4F46E5"/>
                </a:solidFill>
                <a:latin typeface="Calibri"/>
              </a:rPr>
              <a:t>—  </a:t>
            </a:r>
            <a:r>
              <a:rPr sz="1300">
                <a:solidFill>
                  <a:srgbClr val="1F2937"/>
                </a:solidFill>
                <a:latin typeface="Calibri"/>
              </a:rPr>
              <a:t>Modéliser les relations JPA complexes (M-M, auto-référence, cascade).</a:t>
            </a:r>
          </a:p>
          <a:p>
            <a:pPr algn="l">
              <a:lnSpc>
                <a:spcPct val="160000"/>
              </a:lnSpc>
            </a:pPr>
            <a:r>
              <a:rPr sz="1300" b="1">
                <a:solidFill>
                  <a:srgbClr val="4F46E5"/>
                </a:solidFill>
                <a:latin typeface="Calibri"/>
              </a:rPr>
              <a:t>—  </a:t>
            </a:r>
            <a:r>
              <a:rPr sz="1300">
                <a:solidFill>
                  <a:srgbClr val="1F2937"/>
                </a:solidFill>
                <a:latin typeface="Calibri"/>
              </a:rPr>
              <a:t>Proposer un frontend responsive avec dashboards analytiques par rôle.</a:t>
            </a:r>
          </a:p>
          <a:p>
            <a:pPr algn="l">
              <a:lnSpc>
                <a:spcPct val="160000"/>
              </a:lnSpc>
            </a:pPr>
            <a:r>
              <a:rPr sz="1300" b="1">
                <a:solidFill>
                  <a:srgbClr val="4F46E5"/>
                </a:solidFill>
                <a:latin typeface="Calibri"/>
              </a:rPr>
              <a:t>—  </a:t>
            </a:r>
            <a:r>
              <a:rPr sz="1300">
                <a:solidFill>
                  <a:srgbClr val="1F2937"/>
                </a:solidFill>
                <a:latin typeface="Calibri"/>
              </a:rPr>
              <a:t>Respecter l'architecture en couches Controller ▸ Service ▸ Repository.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021"/>
                </a:solidFill>
                <a:latin typeface="Calibri"/>
              </a:rPr>
              <a:t>Méthodologie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2148840"/>
            <a:ext cx="274320" cy="63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0" y="23317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E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4F46E5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31343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021"/>
                </a:solidFill>
                <a:latin typeface="Calibri"/>
              </a:rPr>
              <a:t>Analyse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60604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Lecture du cahier des charges, formalisation des rôles et entités.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1089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E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1089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4F46E5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09067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021"/>
                </a:solidFill>
                <a:latin typeface="Calibri"/>
              </a:rPr>
              <a:t>Conception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38328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Diagrammes UML, ERD, contrats d'API, maquettes.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38862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E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886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4F46E5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86791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021"/>
                </a:solidFill>
                <a:latin typeface="Calibri"/>
              </a:rPr>
              <a:t>Implémentation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416052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Backend-first : entités ▸ services ▸ controllers ▸ UI.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46634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E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663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4F46E5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4515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021"/>
                </a:solidFill>
                <a:latin typeface="Calibri"/>
              </a:rPr>
              <a:t>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93776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Tests manuels + Postman, vérifications de bout-en-bout.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54406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E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54406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4F46E5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542239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021"/>
                </a:solidFill>
                <a:latin typeface="Calibri"/>
              </a:rPr>
              <a:t>Itération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571500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Retours utilisateurs ▸ pull requests de correctifs ciblés.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114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06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B1021"/>
                </a:solidFill>
                <a:latin typeface="Calibri"/>
              </a:rPr>
              <a:t>Cahier des charges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411480" cy="25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Synthèse des exigences fonctionnelles et non fonctionnelles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92240"/>
            <a:ext cx="1088136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ShopFlow  ·  Mini-projet e-commerce  · 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58368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Mohamed Yassine MAALOUL  ·  Dr. Ing. Ghada Feki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74519"/>
            <a:ext cx="5394960" cy="192024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74519"/>
            <a:ext cx="25400" cy="1920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057399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021"/>
                </a:solidFill>
                <a:latin typeface="Calibri"/>
              </a:rPr>
              <a:t>Catalogue &amp; produits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68879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·  </a:t>
            </a:r>
            <a:r>
              <a:rPr sz="1200">
                <a:solidFill>
                  <a:srgbClr val="1F2937"/>
                </a:solidFill>
                <a:latin typeface="Calibri"/>
              </a:rPr>
              <a:t>Catégories hiérarchiques (auto-référence)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·  </a:t>
            </a:r>
            <a:r>
              <a:rPr sz="1200">
                <a:solidFill>
                  <a:srgbClr val="1F2937"/>
                </a:solidFill>
                <a:latin typeface="Calibri"/>
              </a:rPr>
              <a:t>Recherche plein-texte + filtres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·  </a:t>
            </a:r>
            <a:r>
              <a:rPr sz="1200">
                <a:solidFill>
                  <a:srgbClr val="1F2937"/>
                </a:solidFill>
                <a:latin typeface="Calibri"/>
              </a:rPr>
              <a:t>Promotions (prix barré) + pagination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874519"/>
            <a:ext cx="5394960" cy="192024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874519"/>
            <a:ext cx="25400" cy="1920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057399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021"/>
                </a:solidFill>
                <a:latin typeface="Calibri"/>
              </a:rPr>
              <a:t>Comptes &amp; sécurité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468879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·  </a:t>
            </a:r>
            <a:r>
              <a:rPr sz="1200">
                <a:solidFill>
                  <a:srgbClr val="1F2937"/>
                </a:solidFill>
                <a:latin typeface="Calibri"/>
              </a:rPr>
              <a:t>Trois rôles : CUSTOMER / SELLER / ADMIN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·  </a:t>
            </a:r>
            <a:r>
              <a:rPr sz="1200">
                <a:solidFill>
                  <a:srgbClr val="1F2937"/>
                </a:solidFill>
                <a:latin typeface="Calibri"/>
              </a:rPr>
              <a:t>JWT access (24 h) + refresh (7 j)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·  </a:t>
            </a:r>
            <a:r>
              <a:rPr sz="1200">
                <a:solidFill>
                  <a:srgbClr val="1F2937"/>
                </a:solidFill>
                <a:latin typeface="Calibri"/>
              </a:rPr>
              <a:t>Reset de mot de passe par token TTL 60 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77639"/>
            <a:ext cx="5394960" cy="192024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977639"/>
            <a:ext cx="25400" cy="1920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160519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021"/>
                </a:solidFill>
                <a:latin typeface="Calibri"/>
              </a:rPr>
              <a:t>Panier &amp; commandes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571999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·  </a:t>
            </a:r>
            <a:r>
              <a:rPr sz="1200">
                <a:solidFill>
                  <a:srgbClr val="1F2937"/>
                </a:solidFill>
                <a:latin typeface="Calibri"/>
              </a:rPr>
              <a:t>Panier persistant + coupons (% / fixe)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·  </a:t>
            </a:r>
            <a:r>
              <a:rPr sz="1200">
                <a:solidFill>
                  <a:srgbClr val="1F2937"/>
                </a:solidFill>
                <a:latin typeface="Calibri"/>
              </a:rPr>
              <a:t>Statut PENDING → DELIVERED (machine à états)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·  </a:t>
            </a:r>
            <a:r>
              <a:rPr sz="1200">
                <a:solidFill>
                  <a:srgbClr val="1F2937"/>
                </a:solidFill>
                <a:latin typeface="Calibri"/>
              </a:rPr>
              <a:t>N° ORD-AAAA-XXXXX, stock vérifié, transactions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977639"/>
            <a:ext cx="5394960" cy="192024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977639"/>
            <a:ext cx="25400" cy="1920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60519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021"/>
                </a:solidFill>
                <a:latin typeface="Calibri"/>
              </a:rPr>
              <a:t>Avis &amp; modération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571999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·  </a:t>
            </a:r>
            <a:r>
              <a:rPr sz="1200">
                <a:solidFill>
                  <a:srgbClr val="1F2937"/>
                </a:solidFill>
                <a:latin typeface="Calibri"/>
              </a:rPr>
              <a:t>Avis vérifié (achat obligatoire)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·  </a:t>
            </a:r>
            <a:r>
              <a:rPr sz="1200">
                <a:solidFill>
                  <a:srgbClr val="1F2937"/>
                </a:solidFill>
                <a:latin typeface="Calibri"/>
              </a:rPr>
              <a:t>Modération ADMIN (approve / reject)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·  </a:t>
            </a:r>
            <a:r>
              <a:rPr sz="1200">
                <a:solidFill>
                  <a:srgbClr val="1F2937"/>
                </a:solidFill>
                <a:latin typeface="Calibri"/>
              </a:rPr>
              <a:t>Dashboards KPI par rôle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114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07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B1021"/>
                </a:solidFill>
                <a:latin typeface="Calibri"/>
              </a:rPr>
              <a:t>Architecture en couches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411480" cy="25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Séparation stricte Controller ▸ Service ▸ Repository ▸ Entity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92240"/>
            <a:ext cx="1088136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ShopFlow  ·  Mini-projet e-commerce  · 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58368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Mohamed Yassine MAALOUL  ·  Dr. Ing. Ghada Feki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874519"/>
            <a:ext cx="5943600" cy="56692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874519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021"/>
                </a:solidFill>
                <a:latin typeface="Calibri"/>
              </a:rPr>
              <a:t>Présentation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874519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Next.js 14 · App Router · Tailwind · Zustand · Axios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72200" y="2441447"/>
            <a:ext cx="0" cy="128016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200400" y="2569463"/>
            <a:ext cx="5943600" cy="56692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569463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021"/>
                </a:solidFill>
                <a:latin typeface="Calibri"/>
              </a:rPr>
              <a:t>API — Controllers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569463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Spring MVC · @RestController · @Valid · ResponseEntity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72200" y="3136391"/>
            <a:ext cx="0" cy="128016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200400" y="3264407"/>
            <a:ext cx="5943600" cy="56692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3264407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021"/>
                </a:solidFill>
                <a:latin typeface="Calibri"/>
              </a:rPr>
              <a:t>Métier —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264407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Logique @Service · @Transactional · orchestration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72200" y="3831335"/>
            <a:ext cx="0" cy="128016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200400" y="3959351"/>
            <a:ext cx="5943600" cy="56692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959351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021"/>
                </a:solidFill>
                <a:latin typeface="Calibri"/>
              </a:rPr>
              <a:t>Accès — Repositories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959351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Spring Data JPA · JPQL · @Query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72200" y="4526279"/>
            <a:ext cx="0" cy="128016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200400" y="4654295"/>
            <a:ext cx="5943600" cy="56692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4654295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021"/>
                </a:solidFill>
                <a:latin typeface="Calibri"/>
              </a:rPr>
              <a:t>Domaine — Entités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4654295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JPA / Hibernate · mapping relationnel · Lombok @Entity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172200" y="5221223"/>
            <a:ext cx="0" cy="128016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200400" y="5349239"/>
            <a:ext cx="5943600" cy="56692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5349239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021"/>
                </a:solidFill>
                <a:latin typeface="Calibri"/>
              </a:rPr>
              <a:t>Persistance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5349239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H2 en mode fichier (./data/shopflow.mv.db) — prêt PostgreSQL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19659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F46E5"/>
                </a:solidFill>
                <a:latin typeface="Calibri"/>
              </a:rPr>
              <a:t>DTO ↔ Entity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224028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MapStruct génère le code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de conversion à la compilation.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19659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F46E5"/>
                </a:solidFill>
                <a:latin typeface="Calibri"/>
              </a:rPr>
              <a:t>Transactions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224028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@Transactional garantit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l'atomicité métier.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44805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F46E5"/>
                </a:solidFill>
                <a:latin typeface="Calibri"/>
              </a:rPr>
              <a:t>Validation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475488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Jakarta @Valid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+ @NotBlank / @Size / @Email.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114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08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B1021"/>
                </a:solidFill>
                <a:latin typeface="Calibri"/>
              </a:rPr>
              <a:t>Stack technique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411480" cy="25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Choix guidés par le cahier des charges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92240"/>
            <a:ext cx="1088136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ShopFlow  ·  Mini-projet e-commerce  · 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58368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Mohamed Yassine MAALOUL  ·  Dr. Ing. Ghada Feki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F46E5"/>
                </a:solidFill>
                <a:latin typeface="Calibri"/>
              </a:rPr>
              <a:t>BACKEND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59"/>
            <a:ext cx="274320" cy="63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77439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1021"/>
                </a:solidFill>
                <a:latin typeface="Calibri"/>
              </a:rPr>
              <a:t>Java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377439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17 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61487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1021"/>
                </a:solidFill>
                <a:latin typeface="Calibri"/>
              </a:rPr>
              <a:t>Spring Boot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761487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3.3.x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45535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1021"/>
                </a:solidFill>
                <a:latin typeface="Calibri"/>
              </a:rPr>
              <a:t>Spring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145535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6 + jjwt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529583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1021"/>
                </a:solidFill>
                <a:latin typeface="Calibri"/>
              </a:rPr>
              <a:t>JPA / Hibernate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529583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Jakarta Persistence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13631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1021"/>
                </a:solidFill>
                <a:latin typeface="Calibri"/>
              </a:rPr>
              <a:t>MapStruct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913631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DTO ↔ Entity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97679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1021"/>
                </a:solidFill>
                <a:latin typeface="Calibri"/>
              </a:rPr>
              <a:t>Lombok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297679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@Data @Builder @Slf4j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81727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1021"/>
                </a:solidFill>
                <a:latin typeface="Calibri"/>
              </a:rPr>
              <a:t>springdoc-openapi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681727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Swagger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1874519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F46E5"/>
                </a:solidFill>
                <a:latin typeface="Calibri"/>
              </a:rPr>
              <a:t>FRONTEND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2194559"/>
            <a:ext cx="274320" cy="63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2377439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1021"/>
                </a:solidFill>
                <a:latin typeface="Calibri"/>
              </a:rPr>
              <a:t>Next.js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2377439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14.2 · App Router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2761487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1021"/>
                </a:solidFill>
                <a:latin typeface="Calibri"/>
              </a:rPr>
              <a:t>React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2761487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3145535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1021"/>
                </a:solidFill>
                <a:latin typeface="Calibri"/>
              </a:rPr>
              <a:t>TypeScript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3145535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5.x strict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3529583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1021"/>
                </a:solidFill>
                <a:latin typeface="Calibri"/>
              </a:rPr>
              <a:t>Tailwind CSS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3529583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3.4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3913631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1021"/>
                </a:solidFill>
                <a:latin typeface="Calibri"/>
              </a:rPr>
              <a:t>Zustand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3913631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store auth persisté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4297679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1021"/>
                </a:solidFill>
                <a:latin typeface="Calibri"/>
              </a:rPr>
              <a:t>Axios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4297679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interceptor Bearer + refresh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4681727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1021"/>
                </a:solidFill>
                <a:latin typeface="Calibri"/>
              </a:rPr>
              <a:t>ESLint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4681727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next/core-web-vitals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1874519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F46E5"/>
                </a:solidFill>
                <a:latin typeface="Calibri"/>
              </a:rPr>
              <a:t>INFRA &amp; OUTILS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2194559"/>
            <a:ext cx="274320" cy="63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0" y="2377439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1021"/>
                </a:solidFill>
                <a:latin typeface="Calibri"/>
              </a:rPr>
              <a:t>Base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2377439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H2 fichier (prod-ready PostgreSQL)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2761487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1021"/>
                </a:solidFill>
                <a:latin typeface="Calibri"/>
              </a:rPr>
              <a:t>Documentation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0" y="2761487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OpenAPI 3 · README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3145535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1021"/>
                </a:solidFill>
                <a:latin typeface="Calibri"/>
              </a:rPr>
              <a:t>Gestion de version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0" y="3145535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Git + GitHub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3529583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1021"/>
                </a:solidFill>
                <a:latin typeface="Calibri"/>
              </a:rPr>
              <a:t>CI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0" y="3529583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GitHub Actions (build + lint)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3913631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1021"/>
                </a:solidFill>
                <a:latin typeface="Calibri"/>
              </a:rPr>
              <a:t>Conteneurisation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75520" y="3913631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Docker-ready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114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09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B1021"/>
                </a:solidFill>
                <a:latin typeface="Calibri"/>
              </a:rPr>
              <a:t>Diagramme de classes (UML)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411480" cy="25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Entités principales et leurs relations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92240"/>
            <a:ext cx="1088136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ShopFlow  ·  Mini-projet e-commerce  · 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58368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Mohamed Yassine MAALOUL  ·  Dr. Ing. Ghada Feki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2286000" cy="1645920"/>
          </a:xfrm>
          <a:prstGeom prst="rect">
            <a:avLst/>
          </a:prstGeom>
          <a:noFill/>
          <a:ln w="12700">
            <a:solidFill>
              <a:srgbClr val="0B1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2286000" cy="347472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176272"/>
            <a:ext cx="2286000" cy="6350"/>
          </a:xfrm>
          <a:prstGeom prst="rect">
            <a:avLst/>
          </a:prstGeom>
          <a:solidFill>
            <a:srgbClr val="0B1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28800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B1021"/>
                </a:solidFill>
                <a:latin typeface="Calibri"/>
              </a:rPr>
              <a:t>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67712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+ id: Long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478024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+ email: String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688336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+ motDePasse: String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898648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+ role: 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108960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+ actif: boolean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1828800"/>
            <a:ext cx="2468880" cy="1920240"/>
          </a:xfrm>
          <a:prstGeom prst="rect">
            <a:avLst/>
          </a:prstGeom>
          <a:noFill/>
          <a:ln w="12700">
            <a:solidFill>
              <a:srgbClr val="0B1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0" y="1828800"/>
            <a:ext cx="2468880" cy="347472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2176272"/>
            <a:ext cx="2468880" cy="6350"/>
          </a:xfrm>
          <a:prstGeom prst="rect">
            <a:avLst/>
          </a:prstGeom>
          <a:solidFill>
            <a:srgbClr val="0B1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1828800"/>
            <a:ext cx="24688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B1021"/>
                </a:solidFill>
                <a:latin typeface="Calibri"/>
              </a:rPr>
              <a:t>Product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267712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+ id: Long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478024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+ nom: String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2688336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+ prix: BigDecimal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2898648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+ prixPromo: BigDecimal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108960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+ stock: 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3319272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+ images: List&lt;String&gt;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6880" y="1828800"/>
            <a:ext cx="2194560" cy="1371600"/>
          </a:xfrm>
          <a:prstGeom prst="rect">
            <a:avLst/>
          </a:prstGeom>
          <a:noFill/>
          <a:ln w="12700">
            <a:solidFill>
              <a:srgbClr val="0B1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26880" y="1828800"/>
            <a:ext cx="2194560" cy="347472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326880" y="2176272"/>
            <a:ext cx="2194560" cy="6350"/>
          </a:xfrm>
          <a:prstGeom prst="rect">
            <a:avLst/>
          </a:prstGeom>
          <a:solidFill>
            <a:srgbClr val="0B1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0" y="1828800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B1021"/>
                </a:solidFill>
                <a:latin typeface="Calibri"/>
              </a:rPr>
              <a:t>Category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2267712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+ id: Long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2478024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+ nom: String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2688336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+ parent: Category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886200"/>
            <a:ext cx="2286000" cy="1097280"/>
          </a:xfrm>
          <a:prstGeom prst="rect">
            <a:avLst/>
          </a:prstGeom>
          <a:noFill/>
          <a:ln w="12700">
            <a:solidFill>
              <a:srgbClr val="0B1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3886200"/>
            <a:ext cx="2286000" cy="347472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4233672"/>
            <a:ext cx="2286000" cy="6350"/>
          </a:xfrm>
          <a:prstGeom prst="rect">
            <a:avLst/>
          </a:prstGeom>
          <a:solidFill>
            <a:srgbClr val="0B1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886200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B1021"/>
                </a:solidFill>
                <a:latin typeface="Calibri"/>
              </a:rPr>
              <a:t>Cart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325112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+ id: Long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535424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+ customer: User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0" y="4160520"/>
            <a:ext cx="2468880" cy="1645920"/>
          </a:xfrm>
          <a:prstGeom prst="rect">
            <a:avLst/>
          </a:prstGeom>
          <a:noFill/>
          <a:ln w="12700">
            <a:solidFill>
              <a:srgbClr val="0B1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0" y="4160520"/>
            <a:ext cx="2468880" cy="347472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0" y="4507992"/>
            <a:ext cx="2468880" cy="6350"/>
          </a:xfrm>
          <a:prstGeom prst="rect">
            <a:avLst/>
          </a:prstGeom>
          <a:solidFill>
            <a:srgbClr val="0B1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0" y="4160520"/>
            <a:ext cx="24688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B1021"/>
                </a:solidFill>
                <a:latin typeface="Calibri"/>
              </a:rPr>
              <a:t>Order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4599432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+ id: Long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0" y="4809744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+ numeroCommande: String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5020056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+ statut: OrderStatus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0" y="5230368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+ sousTotal: BigDecimal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0" y="5440680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+ totalTTC: BigDecimal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26880" y="3611880"/>
            <a:ext cx="2194560" cy="1371600"/>
          </a:xfrm>
          <a:prstGeom prst="rect">
            <a:avLst/>
          </a:prstGeom>
          <a:noFill/>
          <a:ln w="12700">
            <a:solidFill>
              <a:srgbClr val="0B1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26880" y="3611880"/>
            <a:ext cx="2194560" cy="347472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326880" y="3959352"/>
            <a:ext cx="2194560" cy="6350"/>
          </a:xfrm>
          <a:prstGeom prst="rect">
            <a:avLst/>
          </a:prstGeom>
          <a:solidFill>
            <a:srgbClr val="0B1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26880" y="3611880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B1021"/>
                </a:solidFill>
                <a:latin typeface="Calibri"/>
              </a:rPr>
              <a:t>Review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0" y="4050792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+ id: Long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18320" y="4261104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+ note: int (1..5)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18320" y="4471416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+ approuve: boolean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18320" y="4681728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+ commentaire: String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83280" y="5074920"/>
            <a:ext cx="1554480" cy="868680"/>
          </a:xfrm>
          <a:prstGeom prst="rect">
            <a:avLst/>
          </a:prstGeom>
          <a:noFill/>
          <a:ln w="12700">
            <a:solidFill>
              <a:srgbClr val="0B1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383280" y="5074920"/>
            <a:ext cx="1554480" cy="347472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383280" y="5422392"/>
            <a:ext cx="1554480" cy="6350"/>
          </a:xfrm>
          <a:prstGeom prst="rect">
            <a:avLst/>
          </a:prstGeom>
          <a:solidFill>
            <a:srgbClr val="0B1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83280" y="5074920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B1021"/>
                </a:solidFill>
                <a:latin typeface="Calibri"/>
              </a:rPr>
              <a:t>CartItem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74720" y="551383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+ id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74720" y="5724144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+ quantite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80960" y="5074920"/>
            <a:ext cx="1737360" cy="1078992"/>
          </a:xfrm>
          <a:prstGeom prst="rect">
            <a:avLst/>
          </a:prstGeom>
          <a:noFill/>
          <a:ln w="12700">
            <a:solidFill>
              <a:srgbClr val="0B1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80960" y="5074920"/>
            <a:ext cx="1737360" cy="347472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680960" y="5422392"/>
            <a:ext cx="1737360" cy="6350"/>
          </a:xfrm>
          <a:prstGeom prst="rect">
            <a:avLst/>
          </a:prstGeom>
          <a:solidFill>
            <a:srgbClr val="0B1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680960" y="5074920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B1021"/>
                </a:solidFill>
                <a:latin typeface="Calibri"/>
              </a:rPr>
              <a:t>OrderItem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72400" y="5513832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+ id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72400" y="5724144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+ quantite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72400" y="5934456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+ prixUnitaire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2926080" y="2468880"/>
            <a:ext cx="2103120" cy="0"/>
          </a:xfrm>
          <a:prstGeom prst="line">
            <a:avLst/>
          </a:prstGeom>
          <a:ln w="12700">
            <a:solidFill>
              <a:srgbClr val="1F293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3017520" y="21488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1 vend  *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7498079" y="2468880"/>
            <a:ext cx="1828801" cy="0"/>
          </a:xfrm>
          <a:prstGeom prst="line">
            <a:avLst/>
          </a:prstGeom>
          <a:ln w="127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7680960" y="21488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*  — catégorise —  *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1783080" y="3474720"/>
            <a:ext cx="0" cy="411480"/>
          </a:xfrm>
          <a:prstGeom prst="line">
            <a:avLst/>
          </a:prstGeom>
          <a:ln w="127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874519" y="3538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1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2286000" y="3337560"/>
            <a:ext cx="2743200" cy="1417320"/>
          </a:xfrm>
          <a:prstGeom prst="line">
            <a:avLst/>
          </a:prstGeom>
          <a:ln w="12700">
            <a:solidFill>
              <a:srgbClr val="1F293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3108960" y="40233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1 passe  *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7498079" y="3017520"/>
            <a:ext cx="1828801" cy="1097280"/>
          </a:xfrm>
          <a:prstGeom prst="line">
            <a:avLst/>
          </a:prstGeom>
          <a:ln w="12700">
            <a:solidFill>
              <a:srgbClr val="1F293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7863840" y="35661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1 a *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2926080" y="4572000"/>
            <a:ext cx="457200" cy="868680"/>
          </a:xfrm>
          <a:prstGeom prst="line">
            <a:avLst/>
          </a:prstGeom>
          <a:ln w="127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6675120" y="5577840"/>
            <a:ext cx="1005840" cy="182880"/>
          </a:xfrm>
          <a:prstGeom prst="line">
            <a:avLst/>
          </a:prstGeom>
          <a:ln w="127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114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10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B1021"/>
                </a:solidFill>
                <a:latin typeface="Calibri"/>
              </a:rPr>
              <a:t>Modèle relationnel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411480" cy="25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10 tables  ·  PK clé primaire  ·  FK clé étrangère  ·  UK contrainte d'unicité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92240"/>
            <a:ext cx="1088136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ShopFlow  ·  Mini-projet e-commerce  · 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58368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Mohamed Yassine MAALOUL  ·  Dr. Ing. Ghada Feki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2651760" cy="137160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783080"/>
            <a:ext cx="2651760" cy="320040"/>
          </a:xfrm>
          <a:prstGeom prst="rect">
            <a:avLst/>
          </a:prstGeom>
          <a:solidFill>
            <a:srgbClr val="0B1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4884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4F46E5"/>
                </a:solidFill>
                <a:latin typeface="Consolas"/>
              </a:rPr>
              <a:t>PK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148840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34086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1F2937"/>
                </a:solidFill>
                <a:latin typeface="Consola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340864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email UK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532888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1F2937"/>
                </a:solidFill>
                <a:latin typeface="Consola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532888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password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724912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1F2937"/>
                </a:solidFill>
                <a:latin typeface="Consola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724912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role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91693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1F2937"/>
                </a:solidFill>
                <a:latin typeface="Consola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2916936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actif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1783080"/>
            <a:ext cx="2651760" cy="987552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66160" y="1783080"/>
            <a:ext cx="2651760" cy="320040"/>
          </a:xfrm>
          <a:prstGeom prst="rect">
            <a:avLst/>
          </a:prstGeom>
          <a:solidFill>
            <a:srgbClr val="0B1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178308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categories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214884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4F46E5"/>
                </a:solidFill>
                <a:latin typeface="Consolas"/>
              </a:rPr>
              <a:t>PK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2148840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234086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1F2937"/>
                </a:solidFill>
                <a:latin typeface="Consola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2340864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nom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2532888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7280"/>
                </a:solidFill>
                <a:latin typeface="Consolas"/>
              </a:rPr>
              <a:t>FK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2532888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parent_id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783080"/>
            <a:ext cx="2651760" cy="1179576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1783080"/>
            <a:ext cx="2651760" cy="320040"/>
          </a:xfrm>
          <a:prstGeom prst="rect">
            <a:avLst/>
          </a:prstGeom>
          <a:solidFill>
            <a:srgbClr val="0B1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178308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products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14884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4F46E5"/>
                </a:solidFill>
                <a:latin typeface="Consolas"/>
              </a:rPr>
              <a:t>PK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2148840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234086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7280"/>
                </a:solidFill>
                <a:latin typeface="Consolas"/>
              </a:rPr>
              <a:t>FK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2340864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seller_id → users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2532888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1F2937"/>
                </a:solidFill>
                <a:latin typeface="Consolas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2532888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nom, prix, stock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2724912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1F2937"/>
                </a:solidFill>
                <a:latin typeface="Consolas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2724912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actif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35440" y="1783080"/>
            <a:ext cx="2651760" cy="795528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35440" y="1783080"/>
            <a:ext cx="2651760" cy="320040"/>
          </a:xfrm>
          <a:prstGeom prst="rect">
            <a:avLst/>
          </a:prstGeom>
          <a:solidFill>
            <a:srgbClr val="0B1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178308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product_category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214884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7280"/>
                </a:solidFill>
                <a:latin typeface="Consolas"/>
              </a:rPr>
              <a:t>FK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2148840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product_id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234086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7280"/>
                </a:solidFill>
                <a:latin typeface="Consolas"/>
              </a:rPr>
              <a:t>FK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2340864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category_id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3429000"/>
            <a:ext cx="2651760" cy="987552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0080" y="3429000"/>
            <a:ext cx="2651760" cy="320040"/>
          </a:xfrm>
          <a:prstGeom prst="rect">
            <a:avLst/>
          </a:prstGeom>
          <a:solidFill>
            <a:srgbClr val="0B1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342900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carts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379476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4F46E5"/>
                </a:solidFill>
                <a:latin typeface="Consolas"/>
              </a:rPr>
              <a:t>PK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" y="3794760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398678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7280"/>
                </a:solidFill>
                <a:latin typeface="Consolas"/>
              </a:rPr>
              <a:t>FK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" y="3986784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customer_id → users UK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4178808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7280"/>
                </a:solidFill>
                <a:latin typeface="Consolas"/>
              </a:rPr>
              <a:t>FK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" y="4178808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coupon_id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66160" y="3429000"/>
            <a:ext cx="2651760" cy="1179576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566160" y="3429000"/>
            <a:ext cx="2651760" cy="320040"/>
          </a:xfrm>
          <a:prstGeom prst="rect">
            <a:avLst/>
          </a:prstGeom>
          <a:solidFill>
            <a:srgbClr val="0B1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66160" y="342900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cart_items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0" y="379476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4F46E5"/>
                </a:solidFill>
                <a:latin typeface="Consolas"/>
              </a:rPr>
              <a:t>PK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23360" y="3794760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id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0" y="398678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7280"/>
                </a:solidFill>
                <a:latin typeface="Consolas"/>
              </a:rPr>
              <a:t>FK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23360" y="3986784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cart_id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0" y="4178808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7280"/>
                </a:solidFill>
                <a:latin typeface="Consolas"/>
              </a:rPr>
              <a:t>FK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23360" y="4178808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product_id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0" y="4370832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1F2937"/>
                </a:solidFill>
                <a:latin typeface="Consolas"/>
              </a:rPr>
              <a:t/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23360" y="4370832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quantite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3429000"/>
            <a:ext cx="2651760" cy="1179576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00800" y="3429000"/>
            <a:ext cx="2651760" cy="320040"/>
          </a:xfrm>
          <a:prstGeom prst="rect">
            <a:avLst/>
          </a:prstGeom>
          <a:solidFill>
            <a:srgbClr val="0B1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00800" y="342900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orders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92240" y="379476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4F46E5"/>
                </a:solidFill>
                <a:latin typeface="Consolas"/>
              </a:rPr>
              <a:t>PK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0" y="3794760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id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92240" y="398678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1F2937"/>
                </a:solidFill>
                <a:latin typeface="Consolas"/>
              </a:rPr>
              <a:t/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0" y="3986784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numero_commande UK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92240" y="4178808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7280"/>
                </a:solidFill>
                <a:latin typeface="Consolas"/>
              </a:rPr>
              <a:t>FK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8000" y="4178808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customer_id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92240" y="4370832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1F2937"/>
                </a:solidFill>
                <a:latin typeface="Consolas"/>
              </a:rPr>
              <a:t/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0" y="4370832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statut, total_ttc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235440" y="3429000"/>
            <a:ext cx="2651760" cy="1179576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235440" y="3429000"/>
            <a:ext cx="2651760" cy="320040"/>
          </a:xfrm>
          <a:prstGeom prst="rect">
            <a:avLst/>
          </a:prstGeom>
          <a:solidFill>
            <a:srgbClr val="0B1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235440" y="342900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order_items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26880" y="379476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4F46E5"/>
                </a:solidFill>
                <a:latin typeface="Consolas"/>
              </a:rPr>
              <a:t>PK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692640" y="3794760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id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326880" y="398678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7280"/>
                </a:solidFill>
                <a:latin typeface="Consolas"/>
              </a:rPr>
              <a:t>FK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92640" y="3986784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order_id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326880" y="4178808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7280"/>
                </a:solidFill>
                <a:latin typeface="Consolas"/>
              </a:rPr>
              <a:t>FK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92640" y="4178808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product_id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326880" y="4370832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1F2937"/>
                </a:solidFill>
                <a:latin typeface="Consolas"/>
              </a:rPr>
              <a:t/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92640" y="4370832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qty, prix_u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40080" y="5074920"/>
            <a:ext cx="2651760" cy="1179576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40080" y="5074920"/>
            <a:ext cx="2651760" cy="320040"/>
          </a:xfrm>
          <a:prstGeom prst="rect">
            <a:avLst/>
          </a:prstGeom>
          <a:solidFill>
            <a:srgbClr val="0B1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40080" y="507492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reviews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1520" y="544068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4F46E5"/>
                </a:solidFill>
                <a:latin typeface="Consolas"/>
              </a:rPr>
              <a:t>PK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97280" y="5440680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id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31520" y="563270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7280"/>
                </a:solidFill>
                <a:latin typeface="Consolas"/>
              </a:rPr>
              <a:t>FK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97280" y="5632704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customer_id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31520" y="5824728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7280"/>
                </a:solidFill>
                <a:latin typeface="Consolas"/>
              </a:rPr>
              <a:t>FK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97280" y="5824728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product_id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31520" y="6016752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1F2937"/>
                </a:solidFill>
                <a:latin typeface="Consolas"/>
              </a:rPr>
              <a:t/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97280" y="6016752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note, approuve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566160" y="5074920"/>
            <a:ext cx="2651760" cy="987552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566160" y="5074920"/>
            <a:ext cx="2651760" cy="320040"/>
          </a:xfrm>
          <a:prstGeom prst="rect">
            <a:avLst/>
          </a:prstGeom>
          <a:solidFill>
            <a:srgbClr val="0B1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566160" y="507492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coupons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657600" y="544068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4F46E5"/>
                </a:solidFill>
                <a:latin typeface="Consolas"/>
              </a:rPr>
              <a:t>PK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023360" y="5440680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id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657600" y="563270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1F2937"/>
                </a:solidFill>
                <a:latin typeface="Consolas"/>
              </a:rPr>
              <a:t/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023360" y="5632704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code UK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657600" y="5824728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1F2937"/>
                </a:solidFill>
                <a:latin typeface="Consolas"/>
              </a:rPr>
              <a:t/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023360" y="5824728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type, valeur, expire_le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400800" y="5074920"/>
            <a:ext cx="2651760" cy="1179576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400800" y="5074920"/>
            <a:ext cx="2651760" cy="320040"/>
          </a:xfrm>
          <a:prstGeom prst="rect">
            <a:avLst/>
          </a:prstGeom>
          <a:solidFill>
            <a:srgbClr val="0B1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400800" y="507492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password_reset_tokens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492240" y="544068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4F46E5"/>
                </a:solidFill>
                <a:latin typeface="Consolas"/>
              </a:rPr>
              <a:t>PK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858000" y="5440680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id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492240" y="563270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1F2937"/>
                </a:solidFill>
                <a:latin typeface="Consolas"/>
              </a:rPr>
              <a:t/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858000" y="5632704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token UK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492240" y="5824728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7280"/>
                </a:solidFill>
                <a:latin typeface="Consolas"/>
              </a:rPr>
              <a:t>FK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58000" y="5824728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user_id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492240" y="6016752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1F2937"/>
                </a:solidFill>
                <a:latin typeface="Consolas"/>
              </a:rPr>
              <a:t/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858000" y="6016752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onsolas"/>
              </a:rPr>
              <a:t>expire_le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114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11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B1021"/>
                </a:solidFill>
                <a:latin typeface="Calibri"/>
              </a:rPr>
              <a:t>API REST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411480" cy="25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Plus de 40 endpoints documentés (OpenAPI / Swagger UI)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92240"/>
            <a:ext cx="1088136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ShopFlow  ·  Mini-projet e-commerce  · 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58368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Mohamed Yassine MAALOUL  ·  Dr. Ing. Ghada Feki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3657600" cy="210312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F46E5"/>
                </a:solidFill>
                <a:latin typeface="Consolas"/>
              </a:rPr>
              <a:t>/api/auth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POST /register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96896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POST /login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816352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POST /refresh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35808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POST /logout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55264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POST /forgot-password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4747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POST /reset-password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1828800"/>
            <a:ext cx="3657600" cy="210312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20116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F46E5"/>
                </a:solidFill>
                <a:latin typeface="Consolas"/>
              </a:rPr>
              <a:t>/api/products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37744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GET  / (filtres + tri)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596896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GET  /{id}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816352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POST / · PUT /{id} · DELETE /{id}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035808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GET  /top-selling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255264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GET  /low-stock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828800"/>
            <a:ext cx="3657600" cy="210312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20116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F46E5"/>
                </a:solidFill>
                <a:latin typeface="Consolas"/>
              </a:rPr>
              <a:t>/api/cart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237744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GET  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2596896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POST /items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2816352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PUT  /items/{id}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035808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DELETE /items/{id}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3255264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POST · DELETE /coupon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069080"/>
            <a:ext cx="3657600" cy="210312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2519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F46E5"/>
                </a:solidFill>
                <a:latin typeface="Consolas"/>
              </a:rPr>
              <a:t>/api/orders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6177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POST 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837176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GET  /{id}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056632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GET  /my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276088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GET  /sales (SELLER/ADMIN)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495544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PUT  /{id}/status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71500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PUT  /{id}/cancel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34840" y="4069080"/>
            <a:ext cx="3657600" cy="210312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42519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F46E5"/>
                </a:solidFill>
                <a:latin typeface="Consolas"/>
              </a:rPr>
              <a:t>/api/reviews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46177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POST 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4837176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GET  /product/{id}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5056632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PUT  /{id}/approve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5276088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DELETE /{id}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5495544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GET  /mine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571500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GET  /reviewable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0" y="4069080"/>
            <a:ext cx="3657600" cy="210312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58200" y="42519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F46E5"/>
                </a:solidFill>
                <a:latin typeface="Consolas"/>
              </a:rPr>
              <a:t>/api/admin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46177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GET  /dashboard/admin · /seller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4837176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PUT  /users/{id}/active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8200" y="5056632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CRUD /categories · /coupons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114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12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B1021"/>
                </a:solidFill>
                <a:latin typeface="Calibri"/>
              </a:rPr>
              <a:t>Authentification JWT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411480" cy="25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Diagramme de séquence — login &amp; refresh silencieux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92240"/>
            <a:ext cx="1088136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ShopFlow  ·  Mini-projet e-commerce  · 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58368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Mohamed Yassine MAALOUL  ·  Dr. Ing. Ghada Feki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1645920" cy="502920"/>
          </a:xfrm>
          <a:prstGeom prst="rect">
            <a:avLst/>
          </a:prstGeom>
          <a:solidFill>
            <a:srgbClr val="0B1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Utilisateur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80160" y="2468880"/>
            <a:ext cx="0" cy="3840480"/>
          </a:xfrm>
          <a:prstGeom prst="line">
            <a:avLst/>
          </a:prstGeom>
          <a:ln w="9525">
            <a:solidFill>
              <a:srgbClr val="E5E7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108960" y="1920240"/>
            <a:ext cx="1645920" cy="502920"/>
          </a:xfrm>
          <a:prstGeom prst="rect">
            <a:avLst/>
          </a:prstGeom>
          <a:solidFill>
            <a:srgbClr val="0B1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9202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Frontend</a:t>
            </a:r>
          </a:p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Next.js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31920" y="2468880"/>
            <a:ext cx="0" cy="3840480"/>
          </a:xfrm>
          <a:prstGeom prst="line">
            <a:avLst/>
          </a:prstGeom>
          <a:ln w="9525">
            <a:solidFill>
              <a:srgbClr val="E5E7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035040" y="1920240"/>
            <a:ext cx="1645920" cy="502920"/>
          </a:xfrm>
          <a:prstGeom prst="rect">
            <a:avLst/>
          </a:prstGeom>
          <a:solidFill>
            <a:srgbClr val="0B1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9202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API /auth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0" y="2468880"/>
            <a:ext cx="0" cy="3840480"/>
          </a:xfrm>
          <a:prstGeom prst="line">
            <a:avLst/>
          </a:prstGeom>
          <a:ln w="9525">
            <a:solidFill>
              <a:srgbClr val="E5E7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778240" y="1920240"/>
            <a:ext cx="1645920" cy="502920"/>
          </a:xfrm>
          <a:prstGeom prst="rect">
            <a:avLst/>
          </a:prstGeom>
          <a:solidFill>
            <a:srgbClr val="0B1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19202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DB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01200" y="2468880"/>
            <a:ext cx="0" cy="3840480"/>
          </a:xfrm>
          <a:prstGeom prst="line">
            <a:avLst/>
          </a:prstGeom>
          <a:ln w="9525">
            <a:solidFill>
              <a:srgbClr val="E5E7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80160" y="2697480"/>
            <a:ext cx="2651760" cy="0"/>
          </a:xfrm>
          <a:prstGeom prst="line">
            <a:avLst/>
          </a:prstGeom>
          <a:ln w="12700">
            <a:solidFill>
              <a:srgbClr val="4F46E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71600" y="2441448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alibri"/>
              </a:rPr>
              <a:t>saisit email / mdp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931920" y="3063240"/>
            <a:ext cx="2926080" cy="0"/>
          </a:xfrm>
          <a:prstGeom prst="line">
            <a:avLst/>
          </a:prstGeom>
          <a:ln w="12700">
            <a:solidFill>
              <a:srgbClr val="4F46E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023360" y="280720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alibri"/>
              </a:rPr>
              <a:t>POST /login { email, password }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0" y="3429000"/>
            <a:ext cx="2743200" cy="0"/>
          </a:xfrm>
          <a:prstGeom prst="line">
            <a:avLst/>
          </a:prstGeom>
          <a:ln w="12700">
            <a:solidFill>
              <a:srgbClr val="4F46E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949440" y="3172968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alibri"/>
              </a:rPr>
              <a:t>findByEmail(email)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6858000" y="3749039"/>
            <a:ext cx="2743200" cy="0"/>
          </a:xfrm>
          <a:prstGeom prst="line">
            <a:avLst/>
          </a:prstGeom>
          <a:ln w="12700">
            <a:solidFill>
              <a:srgbClr val="6B7280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949440" y="3493007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1F2937"/>
                </a:solidFill>
                <a:latin typeface="Calibri"/>
              </a:rPr>
              <a:t>User + hash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3931920" y="4206240"/>
            <a:ext cx="2926080" cy="0"/>
          </a:xfrm>
          <a:prstGeom prst="line">
            <a:avLst/>
          </a:prstGeom>
          <a:ln w="12700">
            <a:solidFill>
              <a:srgbClr val="6B7280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023360" y="395020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1F2937"/>
                </a:solidFill>
                <a:latin typeface="Calibri"/>
              </a:rPr>
              <a:t>200 { access (24 h) + refresh (7 j) }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931920" y="4846320"/>
            <a:ext cx="2926080" cy="0"/>
          </a:xfrm>
          <a:prstGeom prst="line">
            <a:avLst/>
          </a:prstGeom>
          <a:ln w="12700">
            <a:solidFill>
              <a:srgbClr val="4F46E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023360" y="459028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alibri"/>
              </a:rPr>
              <a:t>GET /products  (Authorization: Bearer …)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3931920" y="5212080"/>
            <a:ext cx="2926080" cy="0"/>
          </a:xfrm>
          <a:prstGeom prst="line">
            <a:avLst/>
          </a:prstGeom>
          <a:ln w="12700">
            <a:solidFill>
              <a:srgbClr val="6B7280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023360" y="495604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1F2937"/>
                </a:solidFill>
                <a:latin typeface="Calibri"/>
              </a:rPr>
              <a:t>401  token expiré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931920" y="5577840"/>
            <a:ext cx="2926080" cy="0"/>
          </a:xfrm>
          <a:prstGeom prst="line">
            <a:avLst/>
          </a:prstGeom>
          <a:ln w="12700">
            <a:solidFill>
              <a:srgbClr val="4F46E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023360" y="532180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alibri"/>
              </a:rPr>
              <a:t>POST /refresh { refresh }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3931920" y="5943600"/>
            <a:ext cx="2926080" cy="0"/>
          </a:xfrm>
          <a:prstGeom prst="line">
            <a:avLst/>
          </a:prstGeom>
          <a:ln w="12700">
            <a:solidFill>
              <a:srgbClr val="6B7280"/>
            </a:solidFill>
            <a:tailEnd type="triangle" w="med" h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023360" y="568756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1F2937"/>
                </a:solidFill>
                <a:latin typeface="Calibri"/>
              </a:rPr>
              <a:t>200 { nouveau access }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737360" y="4480560"/>
            <a:ext cx="1737360" cy="320040"/>
          </a:xfrm>
          <a:prstGeom prst="roundRect">
            <a:avLst>
              <a:gd name="adj" fmla="val 30000"/>
            </a:avLst>
          </a:prstGeom>
          <a:solidFill>
            <a:srgbClr val="EE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737360" y="448056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4F46E5"/>
                </a:solidFill>
                <a:latin typeface="Calibri"/>
              </a:rPr>
              <a:t>stockage token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474720" y="4636008"/>
            <a:ext cx="457200" cy="0"/>
          </a:xfrm>
          <a:prstGeom prst="line">
            <a:avLst/>
          </a:prstGeom>
          <a:ln w="9525">
            <a:solidFill>
              <a:srgbClr val="4F46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114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13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B1021"/>
                </a:solidFill>
                <a:latin typeface="Calibri"/>
              </a:rPr>
              <a:t>Sécurité &amp; rôles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411480" cy="25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Spring Security 6 · filtre JWT · @PreAuthorize par rôle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92240"/>
            <a:ext cx="1088136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ShopFlow  ·  Mini-projet e-commerce  · 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58368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Mohamed Yassine MAALOUL  ·  Dr. Ing. Ghada Feki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021"/>
                </a:solidFill>
                <a:latin typeface="Calibri"/>
              </a:rPr>
              <a:t>Décisions clés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274320" cy="63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77440"/>
            <a:ext cx="54864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—  </a:t>
            </a:r>
            <a:r>
              <a:rPr sz="1200">
                <a:solidFill>
                  <a:srgbClr val="1F2937"/>
                </a:solidFill>
                <a:latin typeface="Calibri"/>
              </a:rPr>
              <a:t>Mots de passe hashés BCrypt (strength 10).</a:t>
            </a:r>
          </a:p>
          <a:p>
            <a:pPr algn="l">
              <a:lnSpc>
                <a:spcPct val="155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—  </a:t>
            </a:r>
            <a:r>
              <a:rPr sz="1200">
                <a:solidFill>
                  <a:srgbClr val="1F2937"/>
                </a:solidFill>
                <a:latin typeface="Calibri"/>
              </a:rPr>
              <a:t>Access token signé HMAC-SHA256 · 24 h · payload minimal.</a:t>
            </a:r>
          </a:p>
          <a:p>
            <a:pPr algn="l">
              <a:lnSpc>
                <a:spcPct val="155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—  </a:t>
            </a:r>
            <a:r>
              <a:rPr sz="1200">
                <a:solidFill>
                  <a:srgbClr val="1F2937"/>
                </a:solidFill>
                <a:latin typeface="Calibri"/>
              </a:rPr>
              <a:t>Refresh token séparé · 7 j · rotation à chaque usage.</a:t>
            </a:r>
          </a:p>
          <a:p>
            <a:pPr algn="l">
              <a:lnSpc>
                <a:spcPct val="155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—  </a:t>
            </a:r>
            <a:r>
              <a:rPr sz="1200">
                <a:solidFill>
                  <a:srgbClr val="1F2937"/>
                </a:solidFill>
                <a:latin typeface="Calibri"/>
              </a:rPr>
              <a:t>CORS configuré pour l'origine frontend uniquement.</a:t>
            </a:r>
          </a:p>
          <a:p>
            <a:pPr algn="l">
              <a:lnSpc>
                <a:spcPct val="155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—  </a:t>
            </a:r>
            <a:r>
              <a:rPr sz="1200">
                <a:solidFill>
                  <a:srgbClr val="1F2937"/>
                </a:solidFill>
                <a:latin typeface="Calibri"/>
              </a:rPr>
              <a:t>Stateless : session-less, aucune empreinte serveur.</a:t>
            </a:r>
          </a:p>
          <a:p>
            <a:pPr algn="l">
              <a:lnSpc>
                <a:spcPct val="155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—  </a:t>
            </a:r>
            <a:r>
              <a:rPr sz="1200">
                <a:solidFill>
                  <a:srgbClr val="1F2937"/>
                </a:solidFill>
                <a:latin typeface="Calibri"/>
              </a:rPr>
              <a:t>Messages d'erreur génériques (pas de fuite d'email).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7451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021"/>
                </a:solidFill>
                <a:latin typeface="Calibri"/>
              </a:rPr>
              <a:t>Matrice des autorisations (extrait)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2194560"/>
            <a:ext cx="274320" cy="63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2651760"/>
            <a:ext cx="5120640" cy="32004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65176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B1021"/>
                </a:solidFill>
                <a:latin typeface="Calibri"/>
              </a:rPr>
              <a:t>Endpoint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65176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B1021"/>
                </a:solidFill>
                <a:latin typeface="Calibri"/>
              </a:rPr>
              <a:t>CUSTOMER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265176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B1021"/>
                </a:solidFill>
                <a:latin typeface="Calibri"/>
              </a:rPr>
              <a:t>SELLER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26517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B1021"/>
                </a:solidFill>
                <a:latin typeface="Calibri"/>
              </a:rPr>
              <a:t>ADMIN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999232"/>
            <a:ext cx="512064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30449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GET  /products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3044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F46E5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3044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F46E5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3044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F46E5"/>
                </a:solidFill>
                <a:latin typeface="Calibri"/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3410712"/>
            <a:ext cx="512064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4564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POST /orders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45643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F46E5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345643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345643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822192"/>
            <a:ext cx="512064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386791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POST /products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8679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38679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F46E5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38679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F46E5"/>
                </a:solidFill>
                <a:latin typeface="Calibri"/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4233672"/>
            <a:ext cx="512064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42793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PUT  /orders/{id}/status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427939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42793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F2937"/>
                </a:solidFill>
                <a:latin typeface="Calibri"/>
              </a:rPr>
              <a:t>✓ (ses ventes)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42793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F46E5"/>
                </a:solidFill>
                <a:latin typeface="Calibri"/>
              </a:rP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4645152"/>
            <a:ext cx="512064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46908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PUT  /reviews/{id}/approve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46908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60" y="46908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469087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F46E5"/>
                </a:solidFill>
                <a:latin typeface="Calibri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5056632"/>
            <a:ext cx="512064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51023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937"/>
                </a:solidFill>
                <a:latin typeface="Consolas"/>
              </a:rPr>
              <a:t>PUT  /users/{id}/active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51023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66960" y="51023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64240" y="51023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F46E5"/>
                </a:solidFill>
                <a:latin typeface="Calibri"/>
              </a:rPr>
              <a:t>✓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114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14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B1021"/>
                </a:solidFill>
                <a:latin typeface="Calibri"/>
              </a:rPr>
              <a:t>Cycle de vie d'une commande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411480" cy="25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Machine à états — chaque transition est vérifiée côté 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92240"/>
            <a:ext cx="1088136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ShopFlow  ·  Mini-projet e-commerce  · 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58368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Mohamed Yassine MAALOUL  ·  Dr. Ing. Ghada Feki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43200"/>
            <a:ext cx="2103120" cy="7315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743200"/>
            <a:ext cx="2103120" cy="25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B1021"/>
                </a:solidFill>
                <a:latin typeface="Calibri"/>
              </a:rPr>
              <a:t>PENDING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49550" y="3108960"/>
            <a:ext cx="170180" cy="0"/>
          </a:xfrm>
          <a:prstGeom prst="line">
            <a:avLst/>
          </a:prstGeom>
          <a:ln w="15875">
            <a:solidFill>
              <a:srgbClr val="4F46E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26080" y="2743200"/>
            <a:ext cx="2103120" cy="7315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26080" y="2743200"/>
            <a:ext cx="2103120" cy="25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274320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B1021"/>
                </a:solidFill>
                <a:latin typeface="Calibri"/>
              </a:rPr>
              <a:t>PAID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35550" y="3108960"/>
            <a:ext cx="170180" cy="0"/>
          </a:xfrm>
          <a:prstGeom prst="line">
            <a:avLst/>
          </a:prstGeom>
          <a:ln w="15875">
            <a:solidFill>
              <a:srgbClr val="4F46E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212080" y="2743200"/>
            <a:ext cx="2103120" cy="7315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2080" y="2743200"/>
            <a:ext cx="2103120" cy="25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274320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B1021"/>
                </a:solidFill>
                <a:latin typeface="Calibri"/>
              </a:rPr>
              <a:t>PROCESSING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21550" y="3108960"/>
            <a:ext cx="170179" cy="0"/>
          </a:xfrm>
          <a:prstGeom prst="line">
            <a:avLst/>
          </a:prstGeom>
          <a:ln w="15875">
            <a:solidFill>
              <a:srgbClr val="4F46E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498079" y="2743200"/>
            <a:ext cx="2103120" cy="7315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79" y="2743200"/>
            <a:ext cx="2103120" cy="25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274320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B1021"/>
                </a:solidFill>
                <a:latin typeface="Calibri"/>
              </a:rPr>
              <a:t>SHIPPED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07549" y="3108960"/>
            <a:ext cx="170181" cy="0"/>
          </a:xfrm>
          <a:prstGeom prst="line">
            <a:avLst/>
          </a:prstGeom>
          <a:ln w="15875">
            <a:solidFill>
              <a:srgbClr val="4F46E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784080" y="2743200"/>
            <a:ext cx="2103120" cy="7315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2743200"/>
            <a:ext cx="2103120" cy="25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274320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B1021"/>
                </a:solidFill>
                <a:latin typeface="Calibri"/>
              </a:rPr>
              <a:t>DELIVERED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749039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CANCELLED possible tant que PENDING ou PAID — restock automatique et remboursement simulé.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480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021"/>
                </a:solidFill>
                <a:latin typeface="Calibri"/>
              </a:rPr>
              <a:t>Règles métier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800600"/>
            <a:ext cx="274320" cy="63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9834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—  </a:t>
            </a:r>
            <a:r>
              <a:rPr sz="1200">
                <a:solidFill>
                  <a:srgbClr val="1F2937"/>
                </a:solidFill>
                <a:latin typeface="Calibri"/>
              </a:rPr>
              <a:t>Le statut ne peut qu'avancer : toute régression est refusée (409 Conflict).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—  </a:t>
            </a:r>
            <a:r>
              <a:rPr sz="1200">
                <a:solidFill>
                  <a:srgbClr val="1F2937"/>
                </a:solidFill>
                <a:latin typeface="Calibri"/>
              </a:rPr>
              <a:t>La transition est réservée au vendeur de la ligne (ou à l'ADMIN).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—  </a:t>
            </a:r>
            <a:r>
              <a:rPr sz="1200">
                <a:solidFill>
                  <a:srgbClr val="1F2937"/>
                </a:solidFill>
                <a:latin typeface="Calibri"/>
              </a:rPr>
              <a:t>La création d'une commande décrémente le stock dans la même transaction.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—  </a:t>
            </a:r>
            <a:r>
              <a:rPr sz="1200">
                <a:solidFill>
                  <a:srgbClr val="1F2937"/>
                </a:solidFill>
                <a:latin typeface="Calibri"/>
              </a:rPr>
              <a:t>L'annulation relâche le stock et émet un événement de remboursement.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—  </a:t>
            </a:r>
            <a:r>
              <a:rPr sz="1200">
                <a:solidFill>
                  <a:srgbClr val="1F2937"/>
                </a:solidFill>
                <a:latin typeface="Calibri"/>
              </a:rPr>
              <a:t>Numéro généré au format ORD-AAAA-XXXXX (séquence atomique).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114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15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B1021"/>
                </a:solidFill>
                <a:latin typeface="Calibri"/>
              </a:rPr>
              <a:t>Extrait de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411480" cy="25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OrderService — création d'une commande transactionnelle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92240"/>
            <a:ext cx="1088136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ShopFlow  ·  Mini-projet e-commerce  · 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58368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Mohamed Yassine MAALOUL  ·  Dr. Ing. Ghada Feki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7315200" cy="46177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74519"/>
            <a:ext cx="7040880" cy="4480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800" b="1">
                <a:solidFill>
                  <a:srgbClr val="4F46E5"/>
                </a:solidFill>
                <a:latin typeface="Consolas"/>
              </a:rPr>
              <a:t>@Service</a:t>
            </a:r>
          </a:p>
          <a:p>
            <a:pPr>
              <a:lnSpc>
                <a:spcPct val="110000"/>
              </a:lnSpc>
            </a:pPr>
            <a:r>
              <a:rPr sz="800" b="1">
                <a:solidFill>
                  <a:srgbClr val="4F46E5"/>
                </a:solidFill>
                <a:latin typeface="Consolas"/>
              </a:rPr>
              <a:t>@RequiredArgsConstructor</a:t>
            </a:r>
          </a:p>
          <a:p>
            <a:pPr>
              <a:lnSpc>
                <a:spcPct val="110000"/>
              </a:lnSpc>
            </a:pPr>
            <a:r>
              <a:rPr sz="800">
                <a:solidFill>
                  <a:srgbClr val="0B1021"/>
                </a:solidFill>
                <a:latin typeface="Consolas"/>
              </a:rPr>
              <a:t>public class OrderService {</a:t>
            </a:r>
          </a:p>
          <a:p>
            <a:pPr>
              <a:lnSpc>
                <a:spcPct val="110000"/>
              </a:lnSpc>
            </a:pPr>
            <a:r>
              <a:rPr sz="800">
                <a:solidFill>
                  <a:srgbClr val="1F2937"/>
                </a:solidFill>
                <a:latin typeface="Consolas"/>
              </a:rPr>
              <a:t> </a:t>
            </a:r>
          </a:p>
          <a:p>
            <a:pPr>
              <a:lnSpc>
                <a:spcPct val="110000"/>
              </a:lnSpc>
            </a:pPr>
            <a:r>
              <a:rPr sz="800">
                <a:solidFill>
                  <a:srgbClr val="0B1021"/>
                </a:solidFill>
                <a:latin typeface="Consolas"/>
              </a:rPr>
              <a:t>    private final OrderRepository orderRepo;</a:t>
            </a:r>
          </a:p>
          <a:p>
            <a:pPr>
              <a:lnSpc>
                <a:spcPct val="110000"/>
              </a:lnSpc>
            </a:pPr>
            <a:r>
              <a:rPr sz="800">
                <a:solidFill>
                  <a:srgbClr val="0B1021"/>
                </a:solidFill>
                <a:latin typeface="Consolas"/>
              </a:rPr>
              <a:t>    private final CartService    cartService;</a:t>
            </a:r>
          </a:p>
          <a:p>
            <a:pPr>
              <a:lnSpc>
                <a:spcPct val="110000"/>
              </a:lnSpc>
            </a:pPr>
            <a:r>
              <a:rPr sz="800">
                <a:solidFill>
                  <a:srgbClr val="0B1021"/>
                </a:solidFill>
                <a:latin typeface="Consolas"/>
              </a:rPr>
              <a:t>    private final OrderMapper    mapper;</a:t>
            </a:r>
          </a:p>
          <a:p>
            <a:pPr>
              <a:lnSpc>
                <a:spcPct val="110000"/>
              </a:lnSpc>
            </a:pPr>
            <a:r>
              <a:rPr sz="800">
                <a:solidFill>
                  <a:srgbClr val="1F2937"/>
                </a:solidFill>
                <a:latin typeface="Consolas"/>
              </a:rPr>
              <a:t> </a:t>
            </a:r>
          </a:p>
          <a:p>
            <a:pPr>
              <a:lnSpc>
                <a:spcPct val="110000"/>
              </a:lnSpc>
            </a:pPr>
            <a:r>
              <a:rPr sz="800" b="1">
                <a:solidFill>
                  <a:srgbClr val="4F46E5"/>
                </a:solidFill>
                <a:latin typeface="Consolas"/>
              </a:rPr>
              <a:t>    @Transactional                         // atomicité</a:t>
            </a:r>
          </a:p>
          <a:p>
            <a:pPr>
              <a:lnSpc>
                <a:spcPct val="110000"/>
              </a:lnSpc>
            </a:pPr>
            <a:r>
              <a:rPr sz="800">
                <a:solidFill>
                  <a:srgbClr val="0B1021"/>
                </a:solidFill>
                <a:latin typeface="Consolas"/>
              </a:rPr>
              <a:t>    public OrderDTO createFromCart(User customer) {</a:t>
            </a:r>
          </a:p>
          <a:p>
            <a:pPr>
              <a:lnSpc>
                <a:spcPct val="110000"/>
              </a:lnSpc>
            </a:pPr>
            <a:r>
              <a:rPr sz="800">
                <a:solidFill>
                  <a:srgbClr val="1F2937"/>
                </a:solidFill>
                <a:latin typeface="Consolas"/>
              </a:rPr>
              <a:t>        Cart cart = cartService.getActive(customer);</a:t>
            </a:r>
          </a:p>
          <a:p>
            <a:pPr>
              <a:lnSpc>
                <a:spcPct val="110000"/>
              </a:lnSpc>
            </a:pPr>
            <a:r>
              <a:rPr sz="800">
                <a:solidFill>
                  <a:srgbClr val="0B1021"/>
                </a:solidFill>
                <a:latin typeface="Consolas"/>
              </a:rPr>
              <a:t>        if (cart.getItems().isEmpty())</a:t>
            </a:r>
          </a:p>
          <a:p>
            <a:pPr>
              <a:lnSpc>
                <a:spcPct val="110000"/>
              </a:lnSpc>
            </a:pPr>
            <a:r>
              <a:rPr sz="800">
                <a:solidFill>
                  <a:srgbClr val="0B1021"/>
                </a:solidFill>
                <a:latin typeface="Consolas"/>
              </a:rPr>
              <a:t>            throw new BusinessException("Panier vide");</a:t>
            </a:r>
          </a:p>
          <a:p>
            <a:pPr>
              <a:lnSpc>
                <a:spcPct val="110000"/>
              </a:lnSpc>
            </a:pPr>
            <a:r>
              <a:rPr sz="800">
                <a:solidFill>
                  <a:srgbClr val="1F2937"/>
                </a:solidFill>
                <a:latin typeface="Consolas"/>
              </a:rPr>
              <a:t> </a:t>
            </a:r>
          </a:p>
          <a:p>
            <a:pPr>
              <a:lnSpc>
                <a:spcPct val="110000"/>
              </a:lnSpc>
            </a:pPr>
            <a:r>
              <a:rPr sz="800" i="1">
                <a:solidFill>
                  <a:srgbClr val="6B7280"/>
                </a:solidFill>
                <a:latin typeface="Consolas"/>
              </a:rPr>
              <a:t>        // 1. vérifier + décrémenter le stock</a:t>
            </a:r>
          </a:p>
          <a:p>
            <a:pPr>
              <a:lnSpc>
                <a:spcPct val="110000"/>
              </a:lnSpc>
            </a:pPr>
            <a:r>
              <a:rPr sz="800">
                <a:solidFill>
                  <a:srgbClr val="0B1021"/>
                </a:solidFill>
                <a:latin typeface="Consolas"/>
              </a:rPr>
              <a:t>        for (CartItem it : cart.getItems()) {</a:t>
            </a:r>
          </a:p>
          <a:p>
            <a:pPr>
              <a:lnSpc>
                <a:spcPct val="110000"/>
              </a:lnSpc>
            </a:pPr>
            <a:r>
              <a:rPr sz="800">
                <a:solidFill>
                  <a:srgbClr val="1F2937"/>
                </a:solidFill>
                <a:latin typeface="Consolas"/>
              </a:rPr>
              <a:t>            Product p = it.getProduct();</a:t>
            </a:r>
          </a:p>
          <a:p>
            <a:pPr>
              <a:lnSpc>
                <a:spcPct val="110000"/>
              </a:lnSpc>
            </a:pPr>
            <a:r>
              <a:rPr sz="800">
                <a:solidFill>
                  <a:srgbClr val="0B1021"/>
                </a:solidFill>
                <a:latin typeface="Consolas"/>
              </a:rPr>
              <a:t>            if (p.getStock() &lt; it.getQuantite())</a:t>
            </a:r>
          </a:p>
          <a:p>
            <a:pPr>
              <a:lnSpc>
                <a:spcPct val="110000"/>
              </a:lnSpc>
            </a:pPr>
            <a:r>
              <a:rPr sz="800">
                <a:solidFill>
                  <a:srgbClr val="0B1021"/>
                </a:solidFill>
                <a:latin typeface="Consolas"/>
              </a:rPr>
              <a:t>                throw new ConflictException("Stock insuffisant");</a:t>
            </a:r>
          </a:p>
          <a:p>
            <a:pPr>
              <a:lnSpc>
                <a:spcPct val="110000"/>
              </a:lnSpc>
            </a:pPr>
            <a:r>
              <a:rPr sz="800">
                <a:solidFill>
                  <a:srgbClr val="1F2937"/>
                </a:solidFill>
                <a:latin typeface="Consolas"/>
              </a:rPr>
              <a:t>            p.setStock(p.getStock() - it.getQuantite());</a:t>
            </a:r>
          </a:p>
          <a:p>
            <a:pPr>
              <a:lnSpc>
                <a:spcPct val="110000"/>
              </a:lnSpc>
            </a:pPr>
            <a:r>
              <a:rPr sz="800">
                <a:solidFill>
                  <a:srgbClr val="1F2937"/>
                </a:solidFill>
                <a:latin typeface="Consolas"/>
              </a:rPr>
              <a:t>        }</a:t>
            </a:r>
          </a:p>
          <a:p>
            <a:pPr>
              <a:lnSpc>
                <a:spcPct val="110000"/>
              </a:lnSpc>
            </a:pPr>
            <a:r>
              <a:rPr sz="800">
                <a:solidFill>
                  <a:srgbClr val="1F2937"/>
                </a:solidFill>
                <a:latin typeface="Consolas"/>
              </a:rPr>
              <a:t> </a:t>
            </a:r>
          </a:p>
          <a:p>
            <a:pPr>
              <a:lnSpc>
                <a:spcPct val="110000"/>
              </a:lnSpc>
            </a:pPr>
            <a:r>
              <a:rPr sz="800" i="1">
                <a:solidFill>
                  <a:srgbClr val="6B7280"/>
                </a:solidFill>
                <a:latin typeface="Consolas"/>
              </a:rPr>
              <a:t>        // 2. total + numéro ORD-AAAA-XXXXX + save</a:t>
            </a:r>
          </a:p>
          <a:p>
            <a:pPr>
              <a:lnSpc>
                <a:spcPct val="110000"/>
              </a:lnSpc>
            </a:pPr>
            <a:r>
              <a:rPr sz="800">
                <a:solidFill>
                  <a:srgbClr val="1F2937"/>
                </a:solidFill>
                <a:latin typeface="Consolas"/>
              </a:rPr>
              <a:t>        Order order = Order.builder()</a:t>
            </a:r>
          </a:p>
          <a:p>
            <a:pPr>
              <a:lnSpc>
                <a:spcPct val="110000"/>
              </a:lnSpc>
            </a:pPr>
            <a:r>
              <a:rPr sz="800">
                <a:solidFill>
                  <a:srgbClr val="1F2937"/>
                </a:solidFill>
                <a:latin typeface="Consolas"/>
              </a:rPr>
              <a:t>            .customer(customer).statut(OrderStatus.PENDING)</a:t>
            </a:r>
          </a:p>
          <a:p>
            <a:pPr>
              <a:lnSpc>
                <a:spcPct val="110000"/>
              </a:lnSpc>
            </a:pPr>
            <a:r>
              <a:rPr sz="800">
                <a:solidFill>
                  <a:srgbClr val="1F2937"/>
                </a:solidFill>
                <a:latin typeface="Consolas"/>
              </a:rPr>
              <a:t>            .totalTTC(cartService.totalTTC(cart))</a:t>
            </a:r>
          </a:p>
          <a:p>
            <a:pPr>
              <a:lnSpc>
                <a:spcPct val="110000"/>
              </a:lnSpc>
            </a:pPr>
            <a:r>
              <a:rPr sz="800">
                <a:solidFill>
                  <a:srgbClr val="1F2937"/>
                </a:solidFill>
                <a:latin typeface="Consolas"/>
              </a:rPr>
              <a:t>            .numeroCommande(generate()).build();</a:t>
            </a:r>
          </a:p>
          <a:p>
            <a:pPr>
              <a:lnSpc>
                <a:spcPct val="110000"/>
              </a:lnSpc>
            </a:pPr>
            <a:r>
              <a:rPr sz="800">
                <a:solidFill>
                  <a:srgbClr val="1F2937"/>
                </a:solidFill>
                <a:latin typeface="Consolas"/>
              </a:rPr>
              <a:t>        orderRepo.save(order);</a:t>
            </a:r>
          </a:p>
          <a:p>
            <a:pPr>
              <a:lnSpc>
                <a:spcPct val="110000"/>
              </a:lnSpc>
            </a:pPr>
            <a:r>
              <a:rPr sz="800">
                <a:solidFill>
                  <a:srgbClr val="1F2937"/>
                </a:solidFill>
                <a:latin typeface="Consolas"/>
              </a:rPr>
              <a:t>        cartService.clear(cart);</a:t>
            </a:r>
          </a:p>
          <a:p>
            <a:pPr>
              <a:lnSpc>
                <a:spcPct val="110000"/>
              </a:lnSpc>
            </a:pPr>
            <a:r>
              <a:rPr sz="800">
                <a:solidFill>
                  <a:srgbClr val="0B1021"/>
                </a:solidFill>
                <a:latin typeface="Consolas"/>
              </a:rPr>
              <a:t>        return mapper.toDTO(order);</a:t>
            </a:r>
          </a:p>
          <a:p>
            <a:pPr>
              <a:lnSpc>
                <a:spcPct val="110000"/>
              </a:lnSpc>
            </a:pPr>
            <a:r>
              <a:rPr sz="800">
                <a:solidFill>
                  <a:srgbClr val="1F2937"/>
                </a:solidFill>
                <a:latin typeface="Consolas"/>
              </a:rPr>
              <a:t>    }</a:t>
            </a:r>
          </a:p>
          <a:p>
            <a:pPr>
              <a:lnSpc>
                <a:spcPct val="110000"/>
              </a:lnSpc>
            </a:pPr>
            <a:r>
              <a:rPr sz="800">
                <a:solidFill>
                  <a:srgbClr val="1F2937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874519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021"/>
                </a:solidFill>
                <a:latin typeface="Calibri"/>
              </a:rPr>
              <a:t>Ce que fait cette méthode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194560"/>
            <a:ext cx="274320" cy="63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377440"/>
            <a:ext cx="33832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4F46E5"/>
                </a:solidFill>
                <a:latin typeface="Calibri"/>
              </a:rPr>
              <a:t>—  </a:t>
            </a:r>
            <a:r>
              <a:rPr sz="1100">
                <a:solidFill>
                  <a:srgbClr val="1F2937"/>
                </a:solidFill>
                <a:latin typeface="Calibri"/>
              </a:rPr>
              <a:t>Vérifie le stock produit par produit et lève 409 Conflict si insuffisant.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4F46E5"/>
                </a:solidFill>
                <a:latin typeface="Calibri"/>
              </a:rPr>
              <a:t>—  </a:t>
            </a:r>
            <a:r>
              <a:rPr sz="1100">
                <a:solidFill>
                  <a:srgbClr val="1F2937"/>
                </a:solidFill>
                <a:latin typeface="Calibri"/>
              </a:rPr>
              <a:t>Décrémente les stocks en mémoire : flush en fin de transaction.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4F46E5"/>
                </a:solidFill>
                <a:latin typeface="Calibri"/>
              </a:rPr>
              <a:t>—  </a:t>
            </a:r>
            <a:r>
              <a:rPr sz="1100">
                <a:solidFill>
                  <a:srgbClr val="1F2937"/>
                </a:solidFill>
                <a:latin typeface="Calibri"/>
              </a:rPr>
              <a:t>Applique le coupon du panier via CartService.totalTTC().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4F46E5"/>
                </a:solidFill>
                <a:latin typeface="Calibri"/>
              </a:rPr>
              <a:t>—  </a:t>
            </a:r>
            <a:r>
              <a:rPr sz="1100">
                <a:solidFill>
                  <a:srgbClr val="1F2937"/>
                </a:solidFill>
                <a:latin typeface="Calibri"/>
              </a:rPr>
              <a:t>Génère un numéro séquentiel ORD-AAAA-XXXXX atomique.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4F46E5"/>
                </a:solidFill>
                <a:latin typeface="Calibri"/>
              </a:rPr>
              <a:t>—  </a:t>
            </a:r>
            <a:r>
              <a:rPr sz="1100">
                <a:solidFill>
                  <a:srgbClr val="1F2937"/>
                </a:solidFill>
                <a:latin typeface="Calibri"/>
              </a:rPr>
              <a:t>Vide le panier → retour d'un DTO via MapStruct.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4F46E5"/>
                </a:solidFill>
                <a:latin typeface="Calibri"/>
              </a:rPr>
              <a:t>—  </a:t>
            </a:r>
            <a:r>
              <a:rPr sz="1100">
                <a:solidFill>
                  <a:srgbClr val="1F2937"/>
                </a:solidFill>
                <a:latin typeface="Calibri"/>
              </a:rPr>
              <a:t>@Transactional : rollback automatique sur exception.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114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16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B1021"/>
                </a:solidFill>
                <a:latin typeface="Calibri"/>
              </a:rPr>
              <a:t>Frontend Next.js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411480" cy="25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App Router · composants React · Tailwind · Zustand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92240"/>
            <a:ext cx="1088136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ShopFlow  ·  Mini-projet e-commerce  · 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58368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Mohamed Yassine MAALOUL  ·  Dr. Ing. Ghada Feki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6858000" cy="45720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6675120" cy="43891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lnSpc>
                <a:spcPct val="125000"/>
              </a:lnSpc>
            </a:pPr>
            <a:r>
              <a:rPr sz="1000" b="1">
                <a:solidFill>
                  <a:srgbClr val="0B1021"/>
                </a:solidFill>
                <a:latin typeface="Consolas"/>
              </a:rPr>
              <a:t>src/app/</a:t>
            </a:r>
          </a:p>
          <a:p>
            <a:pPr>
              <a:lnSpc>
                <a:spcPct val="125000"/>
              </a:lnSpc>
            </a:pPr>
            <a:r>
              <a:rPr sz="1000" b="0">
                <a:solidFill>
                  <a:srgbClr val="1F2937"/>
                </a:solidFill>
                <a:latin typeface="Consolas"/>
              </a:rPr>
              <a:t>├─ layout.tsx                   — wrapper global + auth</a:t>
            </a:r>
          </a:p>
          <a:p>
            <a:pPr>
              <a:lnSpc>
                <a:spcPct val="125000"/>
              </a:lnSpc>
            </a:pPr>
            <a:r>
              <a:rPr sz="1000" b="0">
                <a:solidFill>
                  <a:srgbClr val="1F2937"/>
                </a:solidFill>
                <a:latin typeface="Consolas"/>
              </a:rPr>
              <a:t>├─ page.tsx                     — accueil (hero + nouveautés)</a:t>
            </a:r>
          </a:p>
          <a:p>
            <a:pPr>
              <a:lnSpc>
                <a:spcPct val="125000"/>
              </a:lnSpc>
            </a:pPr>
            <a:r>
              <a:rPr sz="1000" b="0">
                <a:solidFill>
                  <a:srgbClr val="1F2937"/>
                </a:solidFill>
                <a:latin typeface="Consolas"/>
              </a:rPr>
              <a:t>├─ catalog/                     — catalogue + filtres</a:t>
            </a:r>
          </a:p>
          <a:p>
            <a:pPr>
              <a:lnSpc>
                <a:spcPct val="125000"/>
              </a:lnSpc>
            </a:pPr>
            <a:r>
              <a:rPr sz="1000" b="0">
                <a:solidFill>
                  <a:srgbClr val="1F2937"/>
                </a:solidFill>
                <a:latin typeface="Consolas"/>
              </a:rPr>
              <a:t>├─ products/[id]/               — fiche produit + avis</a:t>
            </a:r>
          </a:p>
          <a:p>
            <a:pPr>
              <a:lnSpc>
                <a:spcPct val="125000"/>
              </a:lnSpc>
            </a:pPr>
            <a:r>
              <a:rPr sz="1000" b="0">
                <a:solidFill>
                  <a:srgbClr val="1F2937"/>
                </a:solidFill>
                <a:latin typeface="Consolas"/>
              </a:rPr>
              <a:t>├─ cart/                        — panier + coupon</a:t>
            </a:r>
          </a:p>
          <a:p>
            <a:pPr>
              <a:lnSpc>
                <a:spcPct val="125000"/>
              </a:lnSpc>
            </a:pPr>
            <a:r>
              <a:rPr sz="1000" b="0">
                <a:solidFill>
                  <a:srgbClr val="1F2937"/>
                </a:solidFill>
                <a:latin typeface="Consolas"/>
              </a:rPr>
              <a:t>├─ checkout/                    — tunnel de commande</a:t>
            </a:r>
          </a:p>
          <a:p>
            <a:pPr>
              <a:lnSpc>
                <a:spcPct val="125000"/>
              </a:lnSpc>
            </a:pPr>
            <a:r>
              <a:rPr sz="1000" b="0">
                <a:solidFill>
                  <a:srgbClr val="1F2937"/>
                </a:solidFill>
                <a:latin typeface="Consolas"/>
              </a:rPr>
              <a:t>├─ login/  register/  forgot-password/  reset-password/</a:t>
            </a:r>
          </a:p>
          <a:p>
            <a:pPr>
              <a:lnSpc>
                <a:spcPct val="125000"/>
              </a:lnSpc>
            </a:pPr>
            <a:r>
              <a:rPr sz="1000" b="0">
                <a:solidFill>
                  <a:srgbClr val="1F2937"/>
                </a:solidFill>
                <a:latin typeface="Consolas"/>
              </a:rPr>
              <a:t>├─ profile/</a:t>
            </a:r>
          </a:p>
          <a:p>
            <a:pPr>
              <a:lnSpc>
                <a:spcPct val="125000"/>
              </a:lnSpc>
            </a:pPr>
            <a:r>
              <a:rPr sz="1000" b="0">
                <a:solidFill>
                  <a:srgbClr val="1F2937"/>
                </a:solidFill>
                <a:latin typeface="Consolas"/>
              </a:rPr>
              <a:t>│   ├─ orders/[id]/             — suivi commande (timeline)</a:t>
            </a:r>
          </a:p>
          <a:p>
            <a:pPr>
              <a:lnSpc>
                <a:spcPct val="125000"/>
              </a:lnSpc>
            </a:pPr>
            <a:r>
              <a:rPr sz="1000" b="0">
                <a:solidFill>
                  <a:srgbClr val="1F2937"/>
                </a:solidFill>
                <a:latin typeface="Consolas"/>
              </a:rPr>
              <a:t>│   └─ reviews/                 — avis à laisser / posté</a:t>
            </a:r>
          </a:p>
          <a:p>
            <a:pPr>
              <a:lnSpc>
                <a:spcPct val="125000"/>
              </a:lnSpc>
            </a:pPr>
            <a:r>
              <a:rPr sz="1000" b="0">
                <a:solidFill>
                  <a:srgbClr val="1F2937"/>
                </a:solidFill>
                <a:latin typeface="Consolas"/>
              </a:rPr>
              <a:t>└─ dashboard/</a:t>
            </a:r>
          </a:p>
          <a:p>
            <a:pPr>
              <a:lnSpc>
                <a:spcPct val="125000"/>
              </a:lnSpc>
            </a:pPr>
            <a:r>
              <a:rPr sz="1000" b="0">
                <a:solidFill>
                  <a:srgbClr val="1F2937"/>
                </a:solidFill>
                <a:latin typeface="Consolas"/>
              </a:rPr>
              <a:t>    ├─ seller/                  — analytics vendeur</a:t>
            </a:r>
          </a:p>
          <a:p>
            <a:pPr>
              <a:lnSpc>
                <a:spcPct val="125000"/>
              </a:lnSpc>
            </a:pPr>
            <a:r>
              <a:rPr sz="1000" b="0">
                <a:solidFill>
                  <a:srgbClr val="1F2937"/>
                </a:solidFill>
                <a:latin typeface="Consolas"/>
              </a:rPr>
              <a:t>    ├─ orders/                  — commandes reçues</a:t>
            </a:r>
          </a:p>
          <a:p>
            <a:pPr>
              <a:lnSpc>
                <a:spcPct val="125000"/>
              </a:lnSpc>
            </a:pPr>
            <a:r>
              <a:rPr sz="1000" b="0">
                <a:solidFill>
                  <a:srgbClr val="1F2937"/>
                </a:solidFill>
                <a:latin typeface="Consolas"/>
              </a:rPr>
              <a:t>    └─ admin/</a:t>
            </a:r>
          </a:p>
          <a:p>
            <a:pPr>
              <a:lnSpc>
                <a:spcPct val="125000"/>
              </a:lnSpc>
            </a:pPr>
            <a:r>
              <a:rPr sz="1000" b="0">
                <a:solidFill>
                  <a:srgbClr val="1F2937"/>
                </a:solidFill>
                <a:latin typeface="Consolas"/>
              </a:rPr>
              <a:t>        ├─ page.tsx             — vue d'ensemble</a:t>
            </a:r>
          </a:p>
          <a:p>
            <a:pPr>
              <a:lnSpc>
                <a:spcPct val="125000"/>
              </a:lnSpc>
            </a:pPr>
            <a:r>
              <a:rPr sz="1000" b="0">
                <a:solidFill>
                  <a:srgbClr val="1F2937"/>
                </a:solidFill>
                <a:latin typeface="Consolas"/>
              </a:rPr>
              <a:t>        ├─ users/               — activation / désactivation</a:t>
            </a:r>
          </a:p>
          <a:p>
            <a:pPr>
              <a:lnSpc>
                <a:spcPct val="125000"/>
              </a:lnSpc>
            </a:pPr>
            <a:r>
              <a:rPr sz="1000" b="0">
                <a:solidFill>
                  <a:srgbClr val="1F2937"/>
                </a:solidFill>
                <a:latin typeface="Consolas"/>
              </a:rPr>
              <a:t>        ├─ reviews/             — modération</a:t>
            </a:r>
          </a:p>
          <a:p>
            <a:pPr>
              <a:lnSpc>
                <a:spcPct val="125000"/>
              </a:lnSpc>
            </a:pPr>
            <a:r>
              <a:rPr sz="1000" b="0">
                <a:solidFill>
                  <a:srgbClr val="1F2937"/>
                </a:solidFill>
                <a:latin typeface="Consolas"/>
              </a:rPr>
              <a:t>        └─ stock/               — alertes stock faible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874519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021"/>
                </a:solidFill>
                <a:latin typeface="Calibri"/>
              </a:rPr>
              <a:t>Composants réutilisables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2194560"/>
            <a:ext cx="274320" cy="63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24231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F46E5"/>
                </a:solidFill>
                <a:latin typeface="Consolas"/>
              </a:rPr>
              <a:t>KpiCard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4231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F2937"/>
                </a:solidFill>
                <a:latin typeface="Calibri"/>
              </a:rPr>
              <a:t>carte KPI + delta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8072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F46E5"/>
                </a:solidFill>
                <a:latin typeface="Consolas"/>
              </a:rPr>
              <a:t>Sparkline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80720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F2937"/>
                </a:solidFill>
                <a:latin typeface="Calibri"/>
              </a:rPr>
              <a:t>ligne SVG 30 j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1912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F46E5"/>
                </a:solidFill>
                <a:latin typeface="Consolas"/>
              </a:rPr>
              <a:t>MiniBarChart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319125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F2937"/>
                </a:solidFill>
                <a:latin typeface="Calibri"/>
              </a:rPr>
              <a:t>barres SVG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57530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F46E5"/>
                </a:solidFill>
                <a:latin typeface="Consolas"/>
              </a:rPr>
              <a:t>OrderStatusBadge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357530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F2937"/>
                </a:solidFill>
                <a:latin typeface="Calibri"/>
              </a:rPr>
              <a:t>pastille statut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9593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F46E5"/>
                </a:solidFill>
                <a:latin typeface="Consolas"/>
              </a:rPr>
              <a:t>RatingStars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959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F2937"/>
                </a:solidFill>
                <a:latin typeface="Calibri"/>
              </a:rPr>
              <a:t>notation étoiles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343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F46E5"/>
                </a:solidFill>
                <a:latin typeface="Consolas"/>
              </a:rPr>
              <a:t>AddToCartButton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43434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F2937"/>
                </a:solidFill>
                <a:latin typeface="Calibri"/>
              </a:rPr>
              <a:t>bouton + stock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7274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F46E5"/>
                </a:solidFill>
                <a:latin typeface="Consolas"/>
              </a:rPr>
              <a:t>DashboardLayout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472744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F2937"/>
                </a:solidFill>
                <a:latin typeface="Calibri"/>
              </a:rPr>
              <a:t>garde de rôle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114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17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B1021"/>
                </a:solidFill>
                <a:latin typeface="Calibri"/>
              </a:rPr>
              <a:t>Analytics &amp; dashboards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411480" cy="25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KPIs, séries temporelles, charts SVG natifs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92240"/>
            <a:ext cx="1088136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ShopFlow  ·  Mini-projet e-commerce  · 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58368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Mohamed Yassine MAALOUL  ·  Dr. Ing. Ghada Feki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68580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4F46E5"/>
                </a:solidFill>
                <a:latin typeface="Calibri"/>
              </a:rPr>
              <a:t>—  </a:t>
            </a:r>
            <a:r>
              <a:rPr sz="1300">
                <a:solidFill>
                  <a:srgbClr val="1F2937"/>
                </a:solidFill>
                <a:latin typeface="Calibri"/>
              </a:rPr>
              <a:t>Agrégations SQL : revenus totaux, par catégorie, par jour sur 30 j.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4F46E5"/>
                </a:solidFill>
                <a:latin typeface="Calibri"/>
              </a:rPr>
              <a:t>—  </a:t>
            </a:r>
            <a:r>
              <a:rPr sz="1300">
                <a:solidFill>
                  <a:srgbClr val="1F2937"/>
                </a:solidFill>
                <a:latin typeface="Calibri"/>
              </a:rPr>
              <a:t>Série temporelle générée côté Java pour rester portable (H2 / PostgreSQL).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4F46E5"/>
                </a:solidFill>
                <a:latin typeface="Calibri"/>
              </a:rPr>
              <a:t>—  </a:t>
            </a:r>
            <a:r>
              <a:rPr sz="1300">
                <a:solidFill>
                  <a:srgbClr val="1F2937"/>
                </a:solidFill>
                <a:latin typeface="Calibri"/>
              </a:rPr>
              <a:t>Variation 30 j (Δ%) calculée vs la période précédente.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4F46E5"/>
                </a:solidFill>
                <a:latin typeface="Calibri"/>
              </a:rPr>
              <a:t>—  </a:t>
            </a:r>
            <a:r>
              <a:rPr sz="1300">
                <a:solidFill>
                  <a:srgbClr val="1F2937"/>
                </a:solidFill>
                <a:latin typeface="Calibri"/>
              </a:rPr>
              <a:t>Top 5 produits et Top 5 vendeurs triés par chiffre d'affaires.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4F46E5"/>
                </a:solidFill>
                <a:latin typeface="Calibri"/>
              </a:rPr>
              <a:t>—  </a:t>
            </a:r>
            <a:r>
              <a:rPr sz="1300">
                <a:solidFill>
                  <a:srgbClr val="1F2937"/>
                </a:solidFill>
                <a:latin typeface="Calibri"/>
              </a:rPr>
              <a:t>Alertes croisées : avis en attente, comptes désactivés, stock ≤ 5.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4F46E5"/>
                </a:solidFill>
                <a:latin typeface="Calibri"/>
              </a:rPr>
              <a:t>—  </a:t>
            </a:r>
            <a:r>
              <a:rPr sz="1300">
                <a:solidFill>
                  <a:srgbClr val="1F2937"/>
                </a:solidFill>
                <a:latin typeface="Calibri"/>
              </a:rPr>
              <a:t>Zéro dépendance graphique : Sparkline et MiniBarChart sont des SVG maison.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874519"/>
            <a:ext cx="3840480" cy="77724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0" y="1874519"/>
            <a:ext cx="109728" cy="777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965959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REVENUS TOTAUX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194559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B1021"/>
                </a:solidFill>
                <a:latin typeface="Calibri"/>
              </a:rPr>
              <a:t>24 599 €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743199"/>
            <a:ext cx="3840480" cy="77724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0" y="2743199"/>
            <a:ext cx="109728" cy="777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834639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CA 30 JOURS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063239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B1021"/>
                </a:solidFill>
                <a:latin typeface="Calibri"/>
              </a:rPr>
              <a:t>8 120 €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3611879"/>
            <a:ext cx="3840480" cy="77724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0" y="3611879"/>
            <a:ext cx="109728" cy="777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3703319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COMMANDES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931919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B1021"/>
                </a:solidFill>
                <a:latin typeface="Calibri"/>
              </a:rPr>
              <a:t>128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4480559"/>
            <a:ext cx="3840480" cy="77724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0" y="4480559"/>
            <a:ext cx="109728" cy="777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4571999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PANIER MOYEN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800599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B1021"/>
                </a:solidFill>
                <a:latin typeface="Calibri"/>
              </a:rPr>
              <a:t>192 €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640080.0" y="5428164.834042702"/>
            <a:ext cx="381525.51724137925" cy="54577.5659572985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021605.5172413792" y="5410799.455101582"/>
            <a:ext cx="381525.51724137925" cy="17365.37894111965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403131.0344827585" y="5401514.507825801"/>
            <a:ext cx="381525.5172413795" cy="9284.947275781073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784656.551724138" y="5376503.567809019"/>
            <a:ext cx="381525.517241379" cy="25010.94001678191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166182.068965517" y="5339192.935416444"/>
            <a:ext cx="381525.5172413797" cy="37310.63239257503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547707.5862068967" y="5319604.982301833"/>
            <a:ext cx="381525.51724137925" cy="19587.953114611097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929233.103448276" y="5319604.982301833"/>
            <a:ext cx="381525.51724137925" cy="31807.387666713446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10758.620689655" y="5351412.369968547"/>
            <a:ext cx="381525.51724137925" cy="92664.13224309962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692284.1379310344" y="5444076.502211646"/>
            <a:ext cx="381525.51724137925" cy="127378.9734158935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073809.6551724137" y="5571455.47562754"/>
            <a:ext cx="381525.5172413797" cy="114581.3919135863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455335.172413793" y="5686036.867541126"/>
            <a:ext cx="381525.51724137925" cy="62687.93069178518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836860.689655173" y="5748724.798232911"/>
            <a:ext cx="381525.51724137925" cy="3692.797831372358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218386.206896552" y="5722291.340430821"/>
            <a:ext cx="381525.51724137925" cy="30126.25563346222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599911.724137931" y="5693217.174581618"/>
            <a:ext cx="381525.51724137925" cy="29074.165849203244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5981437.24137931" y="5681847.996717189"/>
            <a:ext cx="381525.51724137925" cy="11369.17786442861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362962.75862069" y="5674691.035161471"/>
            <a:ext cx="381525.51724137925" cy="7156.961555718444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6744488.275862069" y="5641107.539497212"/>
            <a:ext cx="381525.51724137925" cy="33583.49566425942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126013.793103448" y="5561049.752621588"/>
            <a:ext cx="381525.51724137925" cy="80057.78687562328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507539.310344827" y="5445970.139417471"/>
            <a:ext cx="381525.51724137925" cy="115079.61320411693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889064.827586207" y="5336355.108198399"/>
            <a:ext cx="381525.5172413802" cy="109615.03121907264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270590.344827587" y="5276967.118489086"/>
            <a:ext cx="381525.51724137925" cy="59387.98970931303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652115.862068966" y="5276967.118489086"/>
            <a:ext cx="381525.51724137925" cy="10822.09551604651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033641.379310345" y="5287789.214005132"/>
            <a:ext cx="381525.51724137925" cy="64263.09259728715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415166.896551725" y="5352052.306602419"/>
            <a:ext cx="381525.51724137925" cy="77956.07756340224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796692.413793104" y="5430008.384165822"/>
            <a:ext cx="381525.51724137925" cy="57881.331776024774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178217.931034483" y="5487889.715941846"/>
            <a:ext cx="381525.51724137925" cy="32390.099027161486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559743.448275862" y="5520279.814969008"/>
            <a:ext cx="381525.51724137925" cy="29088.24086574558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941268.965517242" y="5549368.055834753"/>
            <a:ext cx="381525.51724137925" cy="52895.359503204934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22794.48275862" y="5602263.415337958"/>
            <a:ext cx="381525.51724137925" cy="82016.23081057612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40080" y="5989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Ventes simulées sur 30 jours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114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18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B1021"/>
                </a:solidFill>
                <a:latin typeface="Calibri"/>
              </a:rPr>
              <a:t>Aperçu visuel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411480" cy="25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Interfaces produites (sélection)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92240"/>
            <a:ext cx="1088136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ShopFlow  ·  Mini-projet e-commerce  · 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58368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Mohamed Yassine MAALOUL  ·  Dr. Ing. Ghada Feki</a:t>
            </a:r>
          </a:p>
        </p:txBody>
      </p:sp>
      <p:pic>
        <p:nvPicPr>
          <p:cNvPr id="10" name="Picture 9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3703320" cy="1828800"/>
          </a:xfrm>
          <a:prstGeom prst="rect">
            <a:avLst/>
          </a:prstGeom>
          <a:ln w="6350">
            <a:solidFill>
              <a:srgbClr val="E5E7EB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40080" y="3657600"/>
            <a:ext cx="3703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B1021"/>
                </a:solidFill>
                <a:latin typeface="Calibri"/>
              </a:rPr>
              <a:t>Accueil</a:t>
            </a:r>
          </a:p>
        </p:txBody>
      </p:sp>
      <p:pic>
        <p:nvPicPr>
          <p:cNvPr id="12" name="Picture 11" descr="cat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783080"/>
            <a:ext cx="3703320" cy="1828800"/>
          </a:xfrm>
          <a:prstGeom prst="rect">
            <a:avLst/>
          </a:prstGeom>
          <a:ln w="6350">
            <a:solidFill>
              <a:srgbClr val="E5E7EB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4434840" y="3657600"/>
            <a:ext cx="3703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B1021"/>
                </a:solidFill>
                <a:latin typeface="Calibri"/>
              </a:rPr>
              <a:t>Catalogue + filtres</a:t>
            </a:r>
          </a:p>
        </p:txBody>
      </p:sp>
      <p:pic>
        <p:nvPicPr>
          <p:cNvPr id="14" name="Picture 13" descr="product_ps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783080"/>
            <a:ext cx="3703320" cy="1828800"/>
          </a:xfrm>
          <a:prstGeom prst="rect">
            <a:avLst/>
          </a:prstGeom>
          <a:ln w="6350">
            <a:solidFill>
              <a:srgbClr val="E5E7EB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8229600" y="3657600"/>
            <a:ext cx="3703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B1021"/>
                </a:solidFill>
                <a:latin typeface="Calibri"/>
              </a:rPr>
              <a:t>Fiche produit</a:t>
            </a:r>
          </a:p>
        </p:txBody>
      </p:sp>
      <p:pic>
        <p:nvPicPr>
          <p:cNvPr id="16" name="Picture 15" descr="log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023360"/>
            <a:ext cx="3703320" cy="1828800"/>
          </a:xfrm>
          <a:prstGeom prst="rect">
            <a:avLst/>
          </a:prstGeom>
          <a:ln w="6350">
            <a:solidFill>
              <a:srgbClr val="E5E7EB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640080" y="5897880"/>
            <a:ext cx="3703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B1021"/>
                </a:solidFill>
                <a:latin typeface="Calibri"/>
              </a:rPr>
              <a:t>Connexion</a:t>
            </a:r>
          </a:p>
        </p:txBody>
      </p:sp>
      <p:pic>
        <p:nvPicPr>
          <p:cNvPr id="18" name="Picture 17" descr="regis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4023360"/>
            <a:ext cx="3703320" cy="1828800"/>
          </a:xfrm>
          <a:prstGeom prst="rect">
            <a:avLst/>
          </a:prstGeom>
          <a:ln w="6350">
            <a:solidFill>
              <a:srgbClr val="E5E7EB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4434840" y="5897880"/>
            <a:ext cx="3703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B1021"/>
                </a:solidFill>
                <a:latin typeface="Calibri"/>
              </a:rPr>
              <a:t>Inscription</a:t>
            </a:r>
          </a:p>
        </p:txBody>
      </p:sp>
      <p:pic>
        <p:nvPicPr>
          <p:cNvPr id="20" name="Picture 19" descr="forgot_passwo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4023360"/>
            <a:ext cx="3703320" cy="1828800"/>
          </a:xfrm>
          <a:prstGeom prst="rect">
            <a:avLst/>
          </a:prstGeom>
          <a:ln w="6350">
            <a:solidFill>
              <a:srgbClr val="E5E7EB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8229600" y="5897880"/>
            <a:ext cx="3703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B1021"/>
                </a:solidFill>
                <a:latin typeface="Calibri"/>
              </a:rPr>
              <a:t>Mot de passe oublié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114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19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B1021"/>
                </a:solidFill>
                <a:latin typeface="Calibri"/>
              </a:rPr>
              <a:t>Résultats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411480" cy="25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Ce que le projet livre, mesuré et vérifié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92240"/>
            <a:ext cx="1088136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ShopFlow  ·  Mini-projet e-commerce  ·  2025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58368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Mohamed Yassine MAALOUL  ·  Dr. Ing. Ghada Feki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2743200" cy="128016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574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4F46E5"/>
                </a:solidFill>
                <a:latin typeface="Calibri"/>
              </a:rPr>
              <a:t>40+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endpoints REST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1920240"/>
            <a:ext cx="2743200" cy="128016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0574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4F46E5"/>
                </a:solidFill>
                <a:latin typeface="Calibri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743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entités JPA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920240"/>
            <a:ext cx="2743200" cy="128016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0574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4F46E5"/>
                </a:solidFill>
                <a:latin typeface="Calibri"/>
              </a:rP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743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pages Next.js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920240"/>
            <a:ext cx="2743200" cy="128016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20574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4F46E5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743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rôles sécurisés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021"/>
                </a:solidFill>
                <a:latin typeface="Calibri"/>
              </a:rPr>
              <a:t>Exigences du cahier des charges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886200"/>
            <a:ext cx="274320" cy="63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1148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F46E5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1148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Authentification JWT (access + refresh)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1148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F46E5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1148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Relations JPA (M-M, auto-référence, cascade)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48056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F46E5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4805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Recherche + filtres + pagination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48056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F46E5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4805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Panier + coupons + cycle de commande complet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84632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F46E5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8463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Dashboards analytiques par rôle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84632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F46E5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8463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Modération des avis + gestion des utilisateurs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21208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F46E5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2120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Reset de mot de passe avec token TTL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521208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F46E5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2120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Documentation Swagger / OpenAPI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57784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55778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Tests unitaires automatisés (bonus)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557784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5778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Paiement réel Stripe (bonus)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41148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F46E5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B1021"/>
                </a:solidFill>
                <a:latin typeface="Calibri"/>
              </a:rPr>
              <a:t>Ce qu'on retient — ce qu'on améliore ensuite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021"/>
                </a:solidFill>
                <a:latin typeface="Calibri"/>
              </a:rPr>
              <a:t>Ce qui a été livré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80360"/>
            <a:ext cx="274320" cy="63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5486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—  </a:t>
            </a:r>
            <a:r>
              <a:rPr sz="1200">
                <a:solidFill>
                  <a:srgbClr val="1F2937"/>
                </a:solidFill>
                <a:latin typeface="Calibri"/>
              </a:rPr>
              <a:t>Backend Spring Boot 3 complet, couches respectées.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—  </a:t>
            </a:r>
            <a:r>
              <a:rPr sz="1200">
                <a:solidFill>
                  <a:srgbClr val="1F2937"/>
                </a:solidFill>
                <a:latin typeface="Calibri"/>
              </a:rPr>
              <a:t>Authentification JWT + refresh + reset par token.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—  </a:t>
            </a:r>
            <a:r>
              <a:rPr sz="1200">
                <a:solidFill>
                  <a:srgbClr val="1F2937"/>
                </a:solidFill>
                <a:latin typeface="Calibri"/>
              </a:rPr>
              <a:t>Modèle JPA riche : 10 entités, relations M-M, cascade.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—  </a:t>
            </a:r>
            <a:r>
              <a:rPr sz="1200">
                <a:solidFill>
                  <a:srgbClr val="1F2937"/>
                </a:solidFill>
                <a:latin typeface="Calibri"/>
              </a:rPr>
              <a:t>Frontend Next.js 14 responsive avec dashboards.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—  </a:t>
            </a:r>
            <a:r>
              <a:rPr sz="1200">
                <a:solidFill>
                  <a:srgbClr val="1F2937"/>
                </a:solidFill>
                <a:latin typeface="Calibri"/>
              </a:rPr>
              <a:t>Persistance H2 fichier, migration prête pour PostgreSQL.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—  </a:t>
            </a:r>
            <a:r>
              <a:rPr sz="1200">
                <a:solidFill>
                  <a:srgbClr val="1F2937"/>
                </a:solidFill>
                <a:latin typeface="Calibri"/>
              </a:rPr>
              <a:t>Documentation Swagger UI + README.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021"/>
                </a:solidFill>
                <a:latin typeface="Calibri"/>
              </a:rPr>
              <a:t>Pistes d'amélioration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880360"/>
            <a:ext cx="274320" cy="63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063240"/>
            <a:ext cx="5486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—  </a:t>
            </a:r>
            <a:r>
              <a:rPr sz="1200">
                <a:solidFill>
                  <a:srgbClr val="1F2937"/>
                </a:solidFill>
                <a:latin typeface="Calibri"/>
              </a:rPr>
              <a:t>Envoi d'e-mails réels (JavaMail) pour le reset.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—  </a:t>
            </a:r>
            <a:r>
              <a:rPr sz="1200">
                <a:solidFill>
                  <a:srgbClr val="1F2937"/>
                </a:solidFill>
                <a:latin typeface="Calibri"/>
              </a:rPr>
              <a:t>Intégration d'un paiement Stripe / PayPal en sandbox.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—  </a:t>
            </a:r>
            <a:r>
              <a:rPr sz="1200">
                <a:solidFill>
                  <a:srgbClr val="1F2937"/>
                </a:solidFill>
                <a:latin typeface="Calibri"/>
              </a:rPr>
              <a:t>Tests unitaires JUnit + intégration Testcontainers.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—  </a:t>
            </a:r>
            <a:r>
              <a:rPr sz="1200">
                <a:solidFill>
                  <a:srgbClr val="1F2937"/>
                </a:solidFill>
                <a:latin typeface="Calibri"/>
              </a:rPr>
              <a:t>Upload d'images en stockage objet (S3 / MinIO).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—  </a:t>
            </a:r>
            <a:r>
              <a:rPr sz="1200">
                <a:solidFill>
                  <a:srgbClr val="1F2937"/>
                </a:solidFill>
                <a:latin typeface="Calibri"/>
              </a:rPr>
              <a:t>Variants produit (taille, couleur) côté UI.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—  </a:t>
            </a:r>
            <a:r>
              <a:rPr sz="1200">
                <a:solidFill>
                  <a:srgbClr val="1F2937"/>
                </a:solidFill>
                <a:latin typeface="Calibri"/>
              </a:rPr>
              <a:t>Déploiement production : PostgreSQL + Docker + CI/CD.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09360"/>
            <a:ext cx="1088136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B1021"/>
                </a:solidFill>
                <a:latin typeface="Calibri"/>
              </a:rPr>
              <a:t>Merci de votre attention  — 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